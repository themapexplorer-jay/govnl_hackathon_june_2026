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23" r:id="rId4"/>
    <p:sldMasterId id="2147483748" r:id="rId5"/>
  </p:sldMasterIdLst>
  <p:notesMasterIdLst>
    <p:notesMasterId r:id="rId22"/>
  </p:notesMasterIdLst>
  <p:sldIdLst>
    <p:sldId id="2147481266" r:id="rId6"/>
    <p:sldId id="2147481309" r:id="rId7"/>
    <p:sldId id="2147481308" r:id="rId8"/>
    <p:sldId id="2147481321" r:id="rId9"/>
    <p:sldId id="2147481322" r:id="rId10"/>
    <p:sldId id="2147481320" r:id="rId11"/>
    <p:sldId id="2147481310" r:id="rId12"/>
    <p:sldId id="2147481311" r:id="rId13"/>
    <p:sldId id="2147481312" r:id="rId14"/>
    <p:sldId id="2147481313" r:id="rId15"/>
    <p:sldId id="2147481314" r:id="rId16"/>
    <p:sldId id="2147481315" r:id="rId17"/>
    <p:sldId id="2147481316" r:id="rId18"/>
    <p:sldId id="2147481317" r:id="rId19"/>
    <p:sldId id="2147481318" r:id="rId20"/>
    <p:sldId id="2147481319" r:id="rId21"/>
  </p:sldIdLst>
  <p:sldSz cx="20105688" cy="11309350"/>
  <p:notesSz cx="20104100" cy="11309350"/>
  <p:embeddedFontLst>
    <p:embeddedFont>
      <p:font typeface="Gentona Book" panose="00000500000000000000" pitchFamily="50" charset="0"/>
      <p:regular r:id="rId23"/>
      <p:bold r:id="rId24"/>
      <p:italic r:id="rId25"/>
    </p:embeddedFont>
  </p:embeddedFontLst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Standaardsectie" id="{55899F38-4C4A-DA49-B4BC-0E5268744BD5}">
          <p14:sldIdLst>
            <p14:sldId id="2147481266"/>
            <p14:sldId id="2147481309"/>
            <p14:sldId id="2147481308"/>
            <p14:sldId id="2147481321"/>
            <p14:sldId id="2147481322"/>
            <p14:sldId id="2147481320"/>
            <p14:sldId id="2147481310"/>
            <p14:sldId id="2147481311"/>
            <p14:sldId id="2147481312"/>
            <p14:sldId id="2147481313"/>
            <p14:sldId id="2147481314"/>
            <p14:sldId id="2147481315"/>
            <p14:sldId id="2147481316"/>
            <p14:sldId id="2147481317"/>
            <p14:sldId id="2147481318"/>
            <p14:sldId id="21474813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63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2A9FFB-86E3-43DB-B7E9-285C1E961727}" v="366" dt="2026-06-04T12:52:17.300"/>
    <p1510:client id="{4C755E5F-D2A5-4696-88EE-649F09AC45F1}" v="107" dt="2026-06-04T14:07:09.937"/>
    <p1510:client id="{5180D8C0-0C23-4BD1-92BE-D4B00896B693}" v="43" dt="2026-06-04T14:07:03.60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264" y="72"/>
      </p:cViewPr>
      <p:guideLst>
        <p:guide orient="horz" pos="2880"/>
        <p:guide pos="63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2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C8C029-F3EC-BD48-B803-A218A07617E4}" type="datetimeFigureOut">
              <a:rPr lang="nl-NL" smtClean="0"/>
              <a:t>5-6-2026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5DB764-AAFC-8D4E-B7CC-A693510847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3349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63E6F-1AE6-068E-FCE7-6E188FB7D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791A28-817D-CBB6-62E2-F3B016C295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BD8E18-E59B-18F9-8C70-3034DFFCA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D276B-3544-3C3D-2300-BA14EF115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7157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">
    <p:bg>
      <p:bgPr>
        <a:gradFill>
          <a:gsLst>
            <a:gs pos="0">
              <a:schemeClr val="accent3"/>
            </a:gs>
            <a:gs pos="99000">
              <a:schemeClr val="accent1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jdelijke aanduiding voor afbeelding 95">
            <a:extLst>
              <a:ext uri="{FF2B5EF4-FFF2-40B4-BE49-F238E27FC236}">
                <a16:creationId xmlns:a16="http://schemas.microsoft.com/office/drawing/2014/main" id="{082B3B62-9A7F-ADE5-9E99-4D46BFDD20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797546" y="0"/>
            <a:ext cx="8308143" cy="11309351"/>
          </a:xfrm>
          <a:custGeom>
            <a:avLst/>
            <a:gdLst>
              <a:gd name="csX0" fmla="*/ 4736627 w 8307487"/>
              <a:gd name="csY0" fmla="*/ 0 h 11309351"/>
              <a:gd name="csX1" fmla="*/ 8307487 w 8307487"/>
              <a:gd name="csY1" fmla="*/ 0 h 11309351"/>
              <a:gd name="csX2" fmla="*/ 8307487 w 8307487"/>
              <a:gd name="csY2" fmla="*/ 10042390 h 11309351"/>
              <a:gd name="csX3" fmla="*/ 7041587 w 8307487"/>
              <a:gd name="csY3" fmla="*/ 11309351 h 11309351"/>
              <a:gd name="csX4" fmla="*/ 2425702 w 8307487"/>
              <a:gd name="csY4" fmla="*/ 11309351 h 11309351"/>
              <a:gd name="csX5" fmla="*/ 1213478 w 8307487"/>
              <a:gd name="csY5" fmla="*/ 8912816 h 11309351"/>
              <a:gd name="csX6" fmla="*/ 7427771 w 8307487"/>
              <a:gd name="csY6" fmla="*/ 2693406 h 11309351"/>
              <a:gd name="csX7" fmla="*/ 218987 w 8307487"/>
              <a:gd name="csY7" fmla="*/ 0 h 11309351"/>
              <a:gd name="csX8" fmla="*/ 3092185 w 8307487"/>
              <a:gd name="csY8" fmla="*/ 0 h 11309351"/>
              <a:gd name="csX9" fmla="*/ 5783225 w 8307487"/>
              <a:gd name="csY9" fmla="*/ 2693406 h 11309351"/>
              <a:gd name="csX10" fmla="*/ 775610 w 8307487"/>
              <a:gd name="csY10" fmla="*/ 7706590 h 11309351"/>
              <a:gd name="csX11" fmla="*/ 0 w 8307487"/>
              <a:gd name="csY11" fmla="*/ 2693406 h 11309351"/>
              <a:gd name="csX12" fmla="*/ 218987 w 8307487"/>
              <a:gd name="csY12" fmla="*/ 0 h 113093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8307487" h="11309351">
                <a:moveTo>
                  <a:pt x="4736627" y="0"/>
                </a:moveTo>
                <a:lnTo>
                  <a:pt x="8307487" y="0"/>
                </a:lnTo>
                <a:lnTo>
                  <a:pt x="8307487" y="10042390"/>
                </a:lnTo>
                <a:lnTo>
                  <a:pt x="7041587" y="11309351"/>
                </a:lnTo>
                <a:lnTo>
                  <a:pt x="2425702" y="11309351"/>
                </a:lnTo>
                <a:cubicBezTo>
                  <a:pt x="1959164" y="10549006"/>
                  <a:pt x="1552788" y="9747928"/>
                  <a:pt x="1213478" y="8912816"/>
                </a:cubicBezTo>
                <a:lnTo>
                  <a:pt x="7427771" y="2693406"/>
                </a:lnTo>
                <a:close/>
                <a:moveTo>
                  <a:pt x="218987" y="0"/>
                </a:moveTo>
                <a:lnTo>
                  <a:pt x="3092185" y="0"/>
                </a:lnTo>
                <a:lnTo>
                  <a:pt x="5783225" y="2693406"/>
                </a:lnTo>
                <a:lnTo>
                  <a:pt x="775610" y="7706590"/>
                </a:lnTo>
                <a:cubicBezTo>
                  <a:pt x="271824" y="6125271"/>
                  <a:pt x="0" y="4441015"/>
                  <a:pt x="0" y="2693406"/>
                </a:cubicBezTo>
                <a:cubicBezTo>
                  <a:pt x="0" y="1776197"/>
                  <a:pt x="75018" y="876475"/>
                  <a:pt x="218987" y="0"/>
                </a:cubicBezTo>
                <a:close/>
              </a:path>
            </a:pathLst>
          </a:custGeom>
          <a:solidFill>
            <a:srgbClr val="FF0000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32EF4A3-5DB8-79E9-1E96-683E749CA5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12946" y="3140075"/>
            <a:ext cx="15850852" cy="2590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1pPr>
            <a:lvl2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2pPr>
            <a:lvl3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3pPr>
            <a:lvl4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4pPr>
            <a:lvl5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9F0B6979-76CA-8E9F-CB49-2F65D750C9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12946" y="6506372"/>
            <a:ext cx="15850852" cy="1295400"/>
          </a:xfrm>
          <a:prstGeom prst="rect">
            <a:avLst/>
          </a:prstGeom>
        </p:spPr>
        <p:txBody>
          <a:bodyPr/>
          <a:lstStyle>
            <a:lvl1pPr>
              <a:lnSpc>
                <a:spcPts val="5001"/>
              </a:lnSpc>
              <a:defRPr sz="4950" b="0" i="0">
                <a:solidFill>
                  <a:schemeClr val="bg1"/>
                </a:solidFill>
                <a:latin typeface="Gentona Book" pitchFamily="2" charset="77"/>
              </a:defRPr>
            </a:lvl1pPr>
            <a:lvl2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2pPr>
            <a:lvl3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3pPr>
            <a:lvl4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4pPr>
            <a:lvl5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 userDrawn="1">
          <p15:clr>
            <a:srgbClr val="FBAE40"/>
          </p15:clr>
        </p15:guide>
        <p15:guide id="2" pos="633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">
    <p:bg>
      <p:bgPr>
        <a:gradFill>
          <a:gsLst>
            <a:gs pos="0">
              <a:schemeClr val="accent2"/>
            </a:gs>
            <a:gs pos="98000">
              <a:schemeClr val="accent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2">
            <a:extLst>
              <a:ext uri="{FF2B5EF4-FFF2-40B4-BE49-F238E27FC236}">
                <a16:creationId xmlns:a16="http://schemas.microsoft.com/office/drawing/2014/main" id="{8D66C551-A445-671D-8B34-E0D32B330A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2946" y="1539875"/>
            <a:ext cx="16357330" cy="2590800"/>
          </a:xfrm>
          <a:prstGeom prst="rect">
            <a:avLst/>
          </a:prstGeom>
        </p:spPr>
        <p:txBody>
          <a:bodyPr/>
          <a:lstStyle>
            <a:lvl1pPr>
              <a:lnSpc>
                <a:spcPts val="9071"/>
              </a:lnSpc>
              <a:defRPr sz="8251" b="0" i="0">
                <a:solidFill>
                  <a:schemeClr val="bg1"/>
                </a:solidFill>
                <a:latin typeface="Gentona Book" pitchFamily="2" charset="77"/>
              </a:defRPr>
            </a:lvl1pPr>
            <a:lvl2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2pPr>
            <a:lvl3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3pPr>
            <a:lvl4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4pPr>
            <a:lvl5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5pPr>
          </a:lstStyle>
          <a:p>
            <a:pPr lvl="0"/>
            <a:r>
              <a:rPr lang="nl-NL"/>
              <a:t>Hi,</a:t>
            </a:r>
            <a:br>
              <a:rPr lang="nl-NL"/>
            </a:br>
            <a:r>
              <a:rPr lang="nl-NL"/>
              <a:t>Wij zijn LINKIT.</a:t>
            </a:r>
          </a:p>
        </p:txBody>
      </p:sp>
      <p:sp>
        <p:nvSpPr>
          <p:cNvPr id="18" name="Tijdelijke aanduiding voor tekst 2">
            <a:extLst>
              <a:ext uri="{FF2B5EF4-FFF2-40B4-BE49-F238E27FC236}">
                <a16:creationId xmlns:a16="http://schemas.microsoft.com/office/drawing/2014/main" id="{091B1FCF-F967-EFA9-B137-6C5E149637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93976" y="1089965"/>
            <a:ext cx="4953391" cy="39976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550" b="0" i="0">
                <a:solidFill>
                  <a:schemeClr val="tx2"/>
                </a:solidFill>
                <a:latin typeface="Gentona Book" pitchFamily="2" charset="77"/>
              </a:defRPr>
            </a:lvl1pPr>
            <a:lvl2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2pPr>
            <a:lvl3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3pPr>
            <a:lvl4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4pPr>
            <a:lvl5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5pPr>
          </a:lstStyle>
          <a:p>
            <a:pPr lvl="0"/>
            <a:r>
              <a:rPr lang="nl-NL"/>
              <a:t>Introductie</a:t>
            </a:r>
          </a:p>
        </p:txBody>
      </p:sp>
      <p:grpSp>
        <p:nvGrpSpPr>
          <p:cNvPr id="3" name="object 6">
            <a:extLst>
              <a:ext uri="{FF2B5EF4-FFF2-40B4-BE49-F238E27FC236}">
                <a16:creationId xmlns:a16="http://schemas.microsoft.com/office/drawing/2014/main" id="{77A2C1A8-69E9-79AE-9D96-8228222BD06F}"/>
              </a:ext>
            </a:extLst>
          </p:cNvPr>
          <p:cNvGrpSpPr/>
          <p:nvPr userDrawn="1"/>
        </p:nvGrpSpPr>
        <p:grpSpPr>
          <a:xfrm>
            <a:off x="1361326" y="1214624"/>
            <a:ext cx="208295" cy="298450"/>
            <a:chOff x="1361218" y="1214624"/>
            <a:chExt cx="208279" cy="298450"/>
          </a:xfrm>
        </p:grpSpPr>
        <p:sp>
          <p:nvSpPr>
            <p:cNvPr id="4" name="object 7">
              <a:extLst>
                <a:ext uri="{FF2B5EF4-FFF2-40B4-BE49-F238E27FC236}">
                  <a16:creationId xmlns:a16="http://schemas.microsoft.com/office/drawing/2014/main" id="{7B769864-E4FB-60C8-7D1B-5F804B09BA42}"/>
                </a:ext>
              </a:extLst>
            </p:cNvPr>
            <p:cNvSpPr/>
            <p:nvPr/>
          </p:nvSpPr>
          <p:spPr>
            <a:xfrm>
              <a:off x="1377334" y="1214624"/>
              <a:ext cx="191770" cy="298450"/>
            </a:xfrm>
            <a:custGeom>
              <a:avLst/>
              <a:gdLst/>
              <a:ahLst/>
              <a:cxnLst/>
              <a:rect l="l" t="t" r="r" b="b"/>
              <a:pathLst>
                <a:path w="191769" h="298450">
                  <a:moveTo>
                    <a:pt x="42616" y="0"/>
                  </a:moveTo>
                  <a:lnTo>
                    <a:pt x="29788" y="15046"/>
                  </a:lnTo>
                  <a:lnTo>
                    <a:pt x="18347" y="31224"/>
                  </a:lnTo>
                  <a:lnTo>
                    <a:pt x="8387" y="48438"/>
                  </a:lnTo>
                  <a:lnTo>
                    <a:pt x="0" y="66594"/>
                  </a:lnTo>
                  <a:lnTo>
                    <a:pt x="82531" y="149126"/>
                  </a:lnTo>
                  <a:lnTo>
                    <a:pt x="0" y="231657"/>
                  </a:lnTo>
                  <a:lnTo>
                    <a:pt x="8379" y="249814"/>
                  </a:lnTo>
                  <a:lnTo>
                    <a:pt x="18334" y="267028"/>
                  </a:lnTo>
                  <a:lnTo>
                    <a:pt x="29773" y="283206"/>
                  </a:lnTo>
                  <a:lnTo>
                    <a:pt x="42606" y="298252"/>
                  </a:lnTo>
                  <a:lnTo>
                    <a:pt x="191732" y="149126"/>
                  </a:lnTo>
                  <a:lnTo>
                    <a:pt x="42616" y="0"/>
                  </a:lnTo>
                  <a:close/>
                </a:path>
              </a:pathLst>
            </a:custGeom>
            <a:solidFill>
              <a:srgbClr val="3973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8">
              <a:extLst>
                <a:ext uri="{FF2B5EF4-FFF2-40B4-BE49-F238E27FC236}">
                  <a16:creationId xmlns:a16="http://schemas.microsoft.com/office/drawing/2014/main" id="{3B966253-AB03-5100-7A2B-F2EE59867F0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1218" y="1297240"/>
              <a:ext cx="76803" cy="1330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128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37">
          <p15:clr>
            <a:srgbClr val="FBAE40"/>
          </p15:clr>
        </p15:guide>
        <p15:guide id="3" orient="horz" pos="758">
          <p15:clr>
            <a:srgbClr val="FBAE40"/>
          </p15:clr>
        </p15:guide>
        <p15:guide id="4" pos="1180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">
    <p:bg>
      <p:bgPr>
        <a:gradFill>
          <a:gsLst>
            <a:gs pos="0">
              <a:schemeClr val="accent2"/>
            </a:gs>
            <a:gs pos="98000">
              <a:schemeClr val="accent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9742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44" userDrawn="1">
          <p15:clr>
            <a:srgbClr val="FBAE40"/>
          </p15:clr>
        </p15:guide>
        <p15:guide id="3" orient="horz" pos="758">
          <p15:clr>
            <a:srgbClr val="FBAE40"/>
          </p15:clr>
        </p15:guide>
        <p15:guide id="4" pos="1180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2">
    <p:bg>
      <p:bgPr>
        <a:gradFill>
          <a:gsLst>
            <a:gs pos="0">
              <a:schemeClr val="accent1"/>
            </a:gs>
            <a:gs pos="44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hthoek 31">
            <a:extLst>
              <a:ext uri="{FF2B5EF4-FFF2-40B4-BE49-F238E27FC236}">
                <a16:creationId xmlns:a16="http://schemas.microsoft.com/office/drawing/2014/main" id="{0B3EAC49-9F12-B5C0-A43D-C85AC54C90C5}"/>
              </a:ext>
            </a:extLst>
          </p:cNvPr>
          <p:cNvSpPr/>
          <p:nvPr userDrawn="1"/>
        </p:nvSpPr>
        <p:spPr>
          <a:xfrm>
            <a:off x="1361326" y="4247491"/>
            <a:ext cx="5784395" cy="578913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3" name="Rechthoek 32">
            <a:extLst>
              <a:ext uri="{FF2B5EF4-FFF2-40B4-BE49-F238E27FC236}">
                <a16:creationId xmlns:a16="http://schemas.microsoft.com/office/drawing/2014/main" id="{71035BFA-58CC-271C-741E-B1ACC5FF3E19}"/>
              </a:ext>
            </a:extLst>
          </p:cNvPr>
          <p:cNvSpPr/>
          <p:nvPr userDrawn="1"/>
        </p:nvSpPr>
        <p:spPr>
          <a:xfrm>
            <a:off x="7137872" y="4247491"/>
            <a:ext cx="5784395" cy="57891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4" name="Rechthoek 33">
            <a:extLst>
              <a:ext uri="{FF2B5EF4-FFF2-40B4-BE49-F238E27FC236}">
                <a16:creationId xmlns:a16="http://schemas.microsoft.com/office/drawing/2014/main" id="{A611EFE0-EEA2-8648-A169-86EDF40070D4}"/>
              </a:ext>
            </a:extLst>
          </p:cNvPr>
          <p:cNvSpPr/>
          <p:nvPr userDrawn="1"/>
        </p:nvSpPr>
        <p:spPr>
          <a:xfrm>
            <a:off x="12922266" y="4247491"/>
            <a:ext cx="5784395" cy="57891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E36F57F8-FDD9-9AA1-0312-9B8B398B9657}"/>
              </a:ext>
            </a:extLst>
          </p:cNvPr>
          <p:cNvSpPr/>
          <p:nvPr userDrawn="1"/>
        </p:nvSpPr>
        <p:spPr>
          <a:xfrm>
            <a:off x="18130682" y="1204176"/>
            <a:ext cx="611884" cy="611836"/>
          </a:xfrm>
          <a:custGeom>
            <a:avLst/>
            <a:gdLst/>
            <a:ahLst/>
            <a:cxnLst/>
            <a:rect l="l" t="t" r="r" b="b"/>
            <a:pathLst>
              <a:path w="973455" h="973455">
                <a:moveTo>
                  <a:pt x="170827" y="486587"/>
                </a:moveTo>
                <a:lnTo>
                  <a:pt x="22910" y="338670"/>
                </a:lnTo>
                <a:lnTo>
                  <a:pt x="13055" y="374192"/>
                </a:lnTo>
                <a:lnTo>
                  <a:pt x="5867" y="410768"/>
                </a:lnTo>
                <a:lnTo>
                  <a:pt x="1485" y="448271"/>
                </a:lnTo>
                <a:lnTo>
                  <a:pt x="0" y="486587"/>
                </a:lnTo>
                <a:lnTo>
                  <a:pt x="1485" y="524903"/>
                </a:lnTo>
                <a:lnTo>
                  <a:pt x="5867" y="562419"/>
                </a:lnTo>
                <a:lnTo>
                  <a:pt x="13055" y="598995"/>
                </a:lnTo>
                <a:lnTo>
                  <a:pt x="22910" y="634555"/>
                </a:lnTo>
                <a:lnTo>
                  <a:pt x="170827" y="486587"/>
                </a:lnTo>
                <a:close/>
              </a:path>
              <a:path w="973455" h="973455">
                <a:moveTo>
                  <a:pt x="462305" y="486587"/>
                </a:moveTo>
                <a:lnTo>
                  <a:pt x="130644" y="154889"/>
                </a:lnTo>
                <a:lnTo>
                  <a:pt x="102108" y="188366"/>
                </a:lnTo>
                <a:lnTo>
                  <a:pt x="76657" y="224345"/>
                </a:lnTo>
                <a:lnTo>
                  <a:pt x="54508" y="262636"/>
                </a:lnTo>
                <a:lnTo>
                  <a:pt x="35839" y="303022"/>
                </a:lnTo>
                <a:lnTo>
                  <a:pt x="219405" y="486587"/>
                </a:lnTo>
                <a:lnTo>
                  <a:pt x="35839" y="670153"/>
                </a:lnTo>
                <a:lnTo>
                  <a:pt x="54483" y="710539"/>
                </a:lnTo>
                <a:lnTo>
                  <a:pt x="76631" y="748830"/>
                </a:lnTo>
                <a:lnTo>
                  <a:pt x="102069" y="784821"/>
                </a:lnTo>
                <a:lnTo>
                  <a:pt x="130606" y="818286"/>
                </a:lnTo>
                <a:lnTo>
                  <a:pt x="462305" y="486587"/>
                </a:lnTo>
                <a:close/>
              </a:path>
              <a:path w="973455" h="973455">
                <a:moveTo>
                  <a:pt x="634517" y="22910"/>
                </a:moveTo>
                <a:lnTo>
                  <a:pt x="598982" y="13042"/>
                </a:lnTo>
                <a:lnTo>
                  <a:pt x="562406" y="5867"/>
                </a:lnTo>
                <a:lnTo>
                  <a:pt x="524916" y="1485"/>
                </a:lnTo>
                <a:lnTo>
                  <a:pt x="486600" y="0"/>
                </a:lnTo>
                <a:lnTo>
                  <a:pt x="448284" y="1485"/>
                </a:lnTo>
                <a:lnTo>
                  <a:pt x="410768" y="5867"/>
                </a:lnTo>
                <a:lnTo>
                  <a:pt x="374180" y="13042"/>
                </a:lnTo>
                <a:lnTo>
                  <a:pt x="338632" y="22910"/>
                </a:lnTo>
                <a:lnTo>
                  <a:pt x="486600" y="170827"/>
                </a:lnTo>
                <a:lnTo>
                  <a:pt x="634517" y="22910"/>
                </a:lnTo>
                <a:close/>
              </a:path>
              <a:path w="973455" h="973455">
                <a:moveTo>
                  <a:pt x="634555" y="950277"/>
                </a:moveTo>
                <a:lnTo>
                  <a:pt x="486600" y="802347"/>
                </a:lnTo>
                <a:lnTo>
                  <a:pt x="338670" y="950277"/>
                </a:lnTo>
                <a:lnTo>
                  <a:pt x="374205" y="960132"/>
                </a:lnTo>
                <a:lnTo>
                  <a:pt x="410781" y="967308"/>
                </a:lnTo>
                <a:lnTo>
                  <a:pt x="448284" y="971702"/>
                </a:lnTo>
                <a:lnTo>
                  <a:pt x="486600" y="973188"/>
                </a:lnTo>
                <a:lnTo>
                  <a:pt x="524916" y="971702"/>
                </a:lnTo>
                <a:lnTo>
                  <a:pt x="562419" y="967308"/>
                </a:lnTo>
                <a:lnTo>
                  <a:pt x="599008" y="960132"/>
                </a:lnTo>
                <a:lnTo>
                  <a:pt x="634555" y="950277"/>
                </a:lnTo>
                <a:close/>
              </a:path>
              <a:path w="973455" h="973455">
                <a:moveTo>
                  <a:pt x="818248" y="130644"/>
                </a:moveTo>
                <a:lnTo>
                  <a:pt x="784783" y="102082"/>
                </a:lnTo>
                <a:lnTo>
                  <a:pt x="748817" y="76631"/>
                </a:lnTo>
                <a:lnTo>
                  <a:pt x="710539" y="54483"/>
                </a:lnTo>
                <a:lnTo>
                  <a:pt x="670153" y="35839"/>
                </a:lnTo>
                <a:lnTo>
                  <a:pt x="486587" y="219405"/>
                </a:lnTo>
                <a:lnTo>
                  <a:pt x="303034" y="35839"/>
                </a:lnTo>
                <a:lnTo>
                  <a:pt x="262648" y="54483"/>
                </a:lnTo>
                <a:lnTo>
                  <a:pt x="224370" y="76619"/>
                </a:lnTo>
                <a:lnTo>
                  <a:pt x="188404" y="102069"/>
                </a:lnTo>
                <a:lnTo>
                  <a:pt x="154940" y="130606"/>
                </a:lnTo>
                <a:lnTo>
                  <a:pt x="486587" y="462305"/>
                </a:lnTo>
                <a:lnTo>
                  <a:pt x="818248" y="130644"/>
                </a:lnTo>
                <a:close/>
              </a:path>
              <a:path w="973455" h="973455">
                <a:moveTo>
                  <a:pt x="818286" y="842581"/>
                </a:moveTo>
                <a:lnTo>
                  <a:pt x="486587" y="510882"/>
                </a:lnTo>
                <a:lnTo>
                  <a:pt x="154901" y="842581"/>
                </a:lnTo>
                <a:lnTo>
                  <a:pt x="188366" y="871118"/>
                </a:lnTo>
                <a:lnTo>
                  <a:pt x="224358" y="896556"/>
                </a:lnTo>
                <a:lnTo>
                  <a:pt x="262648" y="918705"/>
                </a:lnTo>
                <a:lnTo>
                  <a:pt x="303022" y="937336"/>
                </a:lnTo>
                <a:lnTo>
                  <a:pt x="486587" y="753732"/>
                </a:lnTo>
                <a:lnTo>
                  <a:pt x="670204" y="937336"/>
                </a:lnTo>
                <a:lnTo>
                  <a:pt x="710577" y="918679"/>
                </a:lnTo>
                <a:lnTo>
                  <a:pt x="748855" y="896543"/>
                </a:lnTo>
                <a:lnTo>
                  <a:pt x="784821" y="871105"/>
                </a:lnTo>
                <a:lnTo>
                  <a:pt x="818286" y="842581"/>
                </a:lnTo>
                <a:close/>
              </a:path>
              <a:path w="973455" h="973455">
                <a:moveTo>
                  <a:pt x="937348" y="303022"/>
                </a:moveTo>
                <a:lnTo>
                  <a:pt x="918705" y="262648"/>
                </a:lnTo>
                <a:lnTo>
                  <a:pt x="896556" y="224370"/>
                </a:lnTo>
                <a:lnTo>
                  <a:pt x="871105" y="188404"/>
                </a:lnTo>
                <a:lnTo>
                  <a:pt x="842543" y="154940"/>
                </a:lnTo>
                <a:lnTo>
                  <a:pt x="510882" y="486587"/>
                </a:lnTo>
                <a:lnTo>
                  <a:pt x="842581" y="818286"/>
                </a:lnTo>
                <a:lnTo>
                  <a:pt x="871118" y="784809"/>
                </a:lnTo>
                <a:lnTo>
                  <a:pt x="896556" y="748830"/>
                </a:lnTo>
                <a:lnTo>
                  <a:pt x="918705" y="710539"/>
                </a:lnTo>
                <a:lnTo>
                  <a:pt x="937348" y="670153"/>
                </a:lnTo>
                <a:lnTo>
                  <a:pt x="753783" y="486587"/>
                </a:lnTo>
                <a:lnTo>
                  <a:pt x="937348" y="303022"/>
                </a:lnTo>
                <a:close/>
              </a:path>
              <a:path w="973455" h="973455">
                <a:moveTo>
                  <a:pt x="973188" y="486587"/>
                </a:moveTo>
                <a:lnTo>
                  <a:pt x="971702" y="448271"/>
                </a:lnTo>
                <a:lnTo>
                  <a:pt x="967308" y="410768"/>
                </a:lnTo>
                <a:lnTo>
                  <a:pt x="960132" y="374180"/>
                </a:lnTo>
                <a:lnTo>
                  <a:pt x="950277" y="338620"/>
                </a:lnTo>
                <a:lnTo>
                  <a:pt x="802360" y="486587"/>
                </a:lnTo>
                <a:lnTo>
                  <a:pt x="950277" y="634517"/>
                </a:lnTo>
                <a:lnTo>
                  <a:pt x="960132" y="598982"/>
                </a:lnTo>
                <a:lnTo>
                  <a:pt x="967308" y="562406"/>
                </a:lnTo>
                <a:lnTo>
                  <a:pt x="971702" y="524903"/>
                </a:lnTo>
                <a:lnTo>
                  <a:pt x="973188" y="4865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5">
            <a:extLst>
              <a:ext uri="{FF2B5EF4-FFF2-40B4-BE49-F238E27FC236}">
                <a16:creationId xmlns:a16="http://schemas.microsoft.com/office/drawing/2014/main" id="{85BB2FCE-E063-594D-E58E-56A3F5F9AF1F}"/>
              </a:ext>
            </a:extLst>
          </p:cNvPr>
          <p:cNvGrpSpPr/>
          <p:nvPr userDrawn="1"/>
        </p:nvGrpSpPr>
        <p:grpSpPr>
          <a:xfrm>
            <a:off x="1361326" y="1214624"/>
            <a:ext cx="208295" cy="298450"/>
            <a:chOff x="1361218" y="1214624"/>
            <a:chExt cx="208279" cy="298450"/>
          </a:xfrm>
        </p:grpSpPr>
        <p:sp>
          <p:nvSpPr>
            <p:cNvPr id="4" name="object 6">
              <a:extLst>
                <a:ext uri="{FF2B5EF4-FFF2-40B4-BE49-F238E27FC236}">
                  <a16:creationId xmlns:a16="http://schemas.microsoft.com/office/drawing/2014/main" id="{C1ABB890-A737-4B3B-CAEC-ABFDD036DEF4}"/>
                </a:ext>
              </a:extLst>
            </p:cNvPr>
            <p:cNvSpPr/>
            <p:nvPr/>
          </p:nvSpPr>
          <p:spPr>
            <a:xfrm>
              <a:off x="1377334" y="1214624"/>
              <a:ext cx="191770" cy="298450"/>
            </a:xfrm>
            <a:custGeom>
              <a:avLst/>
              <a:gdLst/>
              <a:ahLst/>
              <a:cxnLst/>
              <a:rect l="l" t="t" r="r" b="b"/>
              <a:pathLst>
                <a:path w="191769" h="298450">
                  <a:moveTo>
                    <a:pt x="42616" y="0"/>
                  </a:moveTo>
                  <a:lnTo>
                    <a:pt x="29788" y="15046"/>
                  </a:lnTo>
                  <a:lnTo>
                    <a:pt x="18347" y="31224"/>
                  </a:lnTo>
                  <a:lnTo>
                    <a:pt x="8387" y="48438"/>
                  </a:lnTo>
                  <a:lnTo>
                    <a:pt x="0" y="66594"/>
                  </a:lnTo>
                  <a:lnTo>
                    <a:pt x="82531" y="149126"/>
                  </a:lnTo>
                  <a:lnTo>
                    <a:pt x="0" y="231657"/>
                  </a:lnTo>
                  <a:lnTo>
                    <a:pt x="8379" y="249814"/>
                  </a:lnTo>
                  <a:lnTo>
                    <a:pt x="18334" y="267028"/>
                  </a:lnTo>
                  <a:lnTo>
                    <a:pt x="29773" y="283206"/>
                  </a:lnTo>
                  <a:lnTo>
                    <a:pt x="42606" y="298252"/>
                  </a:lnTo>
                  <a:lnTo>
                    <a:pt x="191732" y="149126"/>
                  </a:lnTo>
                  <a:lnTo>
                    <a:pt x="42616" y="0"/>
                  </a:lnTo>
                  <a:close/>
                </a:path>
              </a:pathLst>
            </a:custGeom>
            <a:solidFill>
              <a:srgbClr val="00C9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7">
              <a:extLst>
                <a:ext uri="{FF2B5EF4-FFF2-40B4-BE49-F238E27FC236}">
                  <a16:creationId xmlns:a16="http://schemas.microsoft.com/office/drawing/2014/main" id="{00E8FE8A-B0FB-F048-3C8A-7B026228D4A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1218" y="1297240"/>
              <a:ext cx="76803" cy="133032"/>
            </a:xfrm>
            <a:prstGeom prst="rect">
              <a:avLst/>
            </a:prstGeom>
          </p:spPr>
        </p:pic>
      </p:grpSp>
      <p:sp>
        <p:nvSpPr>
          <p:cNvPr id="6" name="Tijdelijke aanduiding voor tekst 2">
            <a:extLst>
              <a:ext uri="{FF2B5EF4-FFF2-40B4-BE49-F238E27FC236}">
                <a16:creationId xmlns:a16="http://schemas.microsoft.com/office/drawing/2014/main" id="{0675B124-ABBD-E768-8C79-E6E5F0B04EE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93976" y="1089965"/>
            <a:ext cx="4953391" cy="39976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550" b="0" i="0">
                <a:solidFill>
                  <a:schemeClr val="bg1"/>
                </a:solidFill>
                <a:latin typeface="Gentona Book" pitchFamily="2" charset="77"/>
              </a:defRPr>
            </a:lvl1pPr>
            <a:lvl2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2pPr>
            <a:lvl3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3pPr>
            <a:lvl4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4pPr>
            <a:lvl5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5pPr>
          </a:lstStyle>
          <a:p>
            <a:pPr lvl="0"/>
            <a:r>
              <a:rPr lang="nl-NL"/>
              <a:t>Subtitel</a:t>
            </a:r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BCA4286A-39C6-1408-E7D7-3208825D45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1326" y="1816012"/>
            <a:ext cx="17381240" cy="1841588"/>
          </a:xfrm>
          <a:prstGeom prst="rect">
            <a:avLst/>
          </a:prstGeom>
        </p:spPr>
        <p:txBody>
          <a:bodyPr/>
          <a:lstStyle>
            <a:lvl1pPr>
              <a:lnSpc>
                <a:spcPts val="9071"/>
              </a:lnSpc>
              <a:defRPr sz="8251" b="0" i="0">
                <a:solidFill>
                  <a:schemeClr val="bg1"/>
                </a:solidFill>
                <a:latin typeface="Gentona Book" pitchFamily="2" charset="77"/>
              </a:defRPr>
            </a:lvl1pPr>
            <a:lvl2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2pPr>
            <a:lvl3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3pPr>
            <a:lvl4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4pPr>
            <a:lvl5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tekst 2">
            <a:extLst>
              <a:ext uri="{FF2B5EF4-FFF2-40B4-BE49-F238E27FC236}">
                <a16:creationId xmlns:a16="http://schemas.microsoft.com/office/drawing/2014/main" id="{1D48C469-D1B1-BB79-66EA-D043F7A5C9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49553" y="4626753"/>
            <a:ext cx="4880856" cy="632684"/>
          </a:xfrm>
          <a:prstGeom prst="rect">
            <a:avLst/>
          </a:prstGeom>
        </p:spPr>
        <p:txBody>
          <a:bodyPr/>
          <a:lstStyle>
            <a:lvl1pPr>
              <a:lnSpc>
                <a:spcPts val="5001"/>
              </a:lnSpc>
              <a:defRPr sz="8251" b="0" i="0">
                <a:solidFill>
                  <a:schemeClr val="accent5"/>
                </a:solidFill>
                <a:latin typeface="Gentona Book" pitchFamily="2" charset="77"/>
              </a:defRPr>
            </a:lvl1pPr>
            <a:lvl2pPr marL="9526" indent="0">
              <a:lnSpc>
                <a:spcPct val="100000"/>
              </a:lnSpc>
              <a:tabLst/>
              <a:defRPr sz="2950" b="0" i="0">
                <a:solidFill>
                  <a:schemeClr val="tx1"/>
                </a:solidFill>
                <a:latin typeface="Gentona Book" pitchFamily="2" charset="77"/>
              </a:defRPr>
            </a:lvl2pPr>
            <a:lvl3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3pPr>
            <a:lvl4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4pPr>
            <a:lvl5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5pPr>
          </a:lstStyle>
          <a:p>
            <a:pPr lvl="0"/>
            <a:r>
              <a:rPr lang="nl-NL"/>
              <a:t>1</a:t>
            </a:r>
          </a:p>
        </p:txBody>
      </p:sp>
      <p:sp>
        <p:nvSpPr>
          <p:cNvPr id="15" name="Tijdelijke aanduiding voor tekst 2">
            <a:extLst>
              <a:ext uri="{FF2B5EF4-FFF2-40B4-BE49-F238E27FC236}">
                <a16:creationId xmlns:a16="http://schemas.microsoft.com/office/drawing/2014/main" id="{09450588-C27D-CF67-4B1E-3DE33CA8E0B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49553" y="5344304"/>
            <a:ext cx="4880856" cy="848832"/>
          </a:xfrm>
          <a:prstGeom prst="rect">
            <a:avLst/>
          </a:prstGeom>
        </p:spPr>
        <p:txBody>
          <a:bodyPr/>
          <a:lstStyle>
            <a:lvl1pPr>
              <a:lnSpc>
                <a:spcPct val="107000"/>
              </a:lnSpc>
              <a:defRPr sz="2450" b="0" i="0">
                <a:solidFill>
                  <a:schemeClr val="accent5"/>
                </a:solidFill>
                <a:latin typeface="Gentona Book" pitchFamily="2" charset="77"/>
              </a:defRPr>
            </a:lvl1pPr>
            <a:lvl2pPr marL="9526" indent="0">
              <a:lnSpc>
                <a:spcPct val="100000"/>
              </a:lnSpc>
              <a:tabLst/>
              <a:defRPr sz="1800" b="0" i="0">
                <a:solidFill>
                  <a:schemeClr val="accent3"/>
                </a:solidFill>
                <a:latin typeface="Gentona Book" pitchFamily="2" charset="77"/>
              </a:defRPr>
            </a:lvl2pPr>
            <a:lvl3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3pPr>
            <a:lvl4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4pPr>
            <a:lvl5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jdelijke aanduiding voor tekst 2">
            <a:extLst>
              <a:ext uri="{FF2B5EF4-FFF2-40B4-BE49-F238E27FC236}">
                <a16:creationId xmlns:a16="http://schemas.microsoft.com/office/drawing/2014/main" id="{9C8F179C-2B5E-22E8-FE2B-3D4876D6E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49553" y="6478736"/>
            <a:ext cx="4880856" cy="3093036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800" b="0" i="0">
                <a:solidFill>
                  <a:schemeClr val="accent5"/>
                </a:solidFill>
                <a:latin typeface="Gentona Book" pitchFamily="2" charset="77"/>
              </a:defRPr>
            </a:lvl1pPr>
            <a:lvl2pPr marL="9526" indent="0">
              <a:lnSpc>
                <a:spcPct val="100000"/>
              </a:lnSpc>
              <a:tabLst/>
              <a:defRPr sz="1800" b="0" i="0">
                <a:solidFill>
                  <a:schemeClr val="accent3"/>
                </a:solidFill>
                <a:latin typeface="Gentona Book" pitchFamily="2" charset="77"/>
              </a:defRPr>
            </a:lvl2pPr>
            <a:lvl3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3pPr>
            <a:lvl4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4pPr>
            <a:lvl5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jdelijke aanduiding voor tekst 2">
            <a:extLst>
              <a:ext uri="{FF2B5EF4-FFF2-40B4-BE49-F238E27FC236}">
                <a16:creationId xmlns:a16="http://schemas.microsoft.com/office/drawing/2014/main" id="{3F147089-D758-E8AA-F1DA-778FB56BFE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97903" y="4626753"/>
            <a:ext cx="4880856" cy="632684"/>
          </a:xfrm>
          <a:prstGeom prst="rect">
            <a:avLst/>
          </a:prstGeom>
        </p:spPr>
        <p:txBody>
          <a:bodyPr/>
          <a:lstStyle>
            <a:lvl1pPr>
              <a:lnSpc>
                <a:spcPts val="5001"/>
              </a:lnSpc>
              <a:defRPr sz="8251" b="0" i="0">
                <a:solidFill>
                  <a:schemeClr val="accent5"/>
                </a:solidFill>
                <a:latin typeface="Gentona Book" pitchFamily="2" charset="77"/>
              </a:defRPr>
            </a:lvl1pPr>
            <a:lvl2pPr marL="9526" indent="0">
              <a:lnSpc>
                <a:spcPct val="100000"/>
              </a:lnSpc>
              <a:tabLst/>
              <a:defRPr sz="2950" b="0" i="0">
                <a:solidFill>
                  <a:schemeClr val="tx1"/>
                </a:solidFill>
                <a:latin typeface="Gentona Book" pitchFamily="2" charset="77"/>
              </a:defRPr>
            </a:lvl2pPr>
            <a:lvl3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3pPr>
            <a:lvl4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4pPr>
            <a:lvl5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5pPr>
          </a:lstStyle>
          <a:p>
            <a:pPr lvl="0"/>
            <a:r>
              <a:rPr lang="nl-NL"/>
              <a:t>2</a:t>
            </a:r>
          </a:p>
        </p:txBody>
      </p:sp>
      <p:sp>
        <p:nvSpPr>
          <p:cNvPr id="18" name="Tijdelijke aanduiding voor tekst 2">
            <a:extLst>
              <a:ext uri="{FF2B5EF4-FFF2-40B4-BE49-F238E27FC236}">
                <a16:creationId xmlns:a16="http://schemas.microsoft.com/office/drawing/2014/main" id="{F73FB772-E478-1F72-BC45-B43EBA1415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7903" y="5344304"/>
            <a:ext cx="4880856" cy="848832"/>
          </a:xfrm>
          <a:prstGeom prst="rect">
            <a:avLst/>
          </a:prstGeom>
        </p:spPr>
        <p:txBody>
          <a:bodyPr/>
          <a:lstStyle>
            <a:lvl1pPr>
              <a:lnSpc>
                <a:spcPct val="107000"/>
              </a:lnSpc>
              <a:defRPr sz="2450" b="0" i="0">
                <a:solidFill>
                  <a:schemeClr val="accent5"/>
                </a:solidFill>
                <a:latin typeface="Gentona Book" pitchFamily="2" charset="77"/>
              </a:defRPr>
            </a:lvl1pPr>
            <a:lvl2pPr marL="9526" indent="0">
              <a:lnSpc>
                <a:spcPct val="100000"/>
              </a:lnSpc>
              <a:tabLst/>
              <a:defRPr sz="1800" b="0" i="0">
                <a:solidFill>
                  <a:schemeClr val="accent3"/>
                </a:solidFill>
                <a:latin typeface="Gentona Book" pitchFamily="2" charset="77"/>
              </a:defRPr>
            </a:lvl2pPr>
            <a:lvl3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3pPr>
            <a:lvl4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4pPr>
            <a:lvl5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ijdelijke aanduiding voor tekst 2">
            <a:extLst>
              <a:ext uri="{FF2B5EF4-FFF2-40B4-BE49-F238E27FC236}">
                <a16:creationId xmlns:a16="http://schemas.microsoft.com/office/drawing/2014/main" id="{1BE3F873-A400-33CB-C17F-E51BE8FC5C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97903" y="6478736"/>
            <a:ext cx="4880856" cy="3093036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800" b="0" i="0">
                <a:solidFill>
                  <a:schemeClr val="accent5"/>
                </a:solidFill>
                <a:latin typeface="Gentona Book" pitchFamily="2" charset="77"/>
              </a:defRPr>
            </a:lvl1pPr>
            <a:lvl2pPr marL="9526" indent="0">
              <a:lnSpc>
                <a:spcPct val="100000"/>
              </a:lnSpc>
              <a:tabLst/>
              <a:defRPr sz="1800" b="0" i="0">
                <a:solidFill>
                  <a:schemeClr val="accent3"/>
                </a:solidFill>
                <a:latin typeface="Gentona Book" pitchFamily="2" charset="77"/>
              </a:defRPr>
            </a:lvl2pPr>
            <a:lvl3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3pPr>
            <a:lvl4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4pPr>
            <a:lvl5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ijdelijke aanduiding voor tekst 2">
            <a:extLst>
              <a:ext uri="{FF2B5EF4-FFF2-40B4-BE49-F238E27FC236}">
                <a16:creationId xmlns:a16="http://schemas.microsoft.com/office/drawing/2014/main" id="{AEF2A7CC-0A5E-40EE-D6EE-364AEE823F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451003" y="4626753"/>
            <a:ext cx="4880856" cy="632684"/>
          </a:xfrm>
          <a:prstGeom prst="rect">
            <a:avLst/>
          </a:prstGeom>
        </p:spPr>
        <p:txBody>
          <a:bodyPr/>
          <a:lstStyle>
            <a:lvl1pPr>
              <a:lnSpc>
                <a:spcPts val="5001"/>
              </a:lnSpc>
              <a:defRPr sz="8251" b="0" i="0">
                <a:solidFill>
                  <a:schemeClr val="accent5"/>
                </a:solidFill>
                <a:latin typeface="Gentona Book" pitchFamily="2" charset="77"/>
              </a:defRPr>
            </a:lvl1pPr>
            <a:lvl2pPr marL="9526" indent="0">
              <a:lnSpc>
                <a:spcPct val="100000"/>
              </a:lnSpc>
              <a:tabLst/>
              <a:defRPr sz="2950" b="0" i="0">
                <a:solidFill>
                  <a:schemeClr val="tx1"/>
                </a:solidFill>
                <a:latin typeface="Gentona Book" pitchFamily="2" charset="77"/>
              </a:defRPr>
            </a:lvl2pPr>
            <a:lvl3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3pPr>
            <a:lvl4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4pPr>
            <a:lvl5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5pPr>
          </a:lstStyle>
          <a:p>
            <a:pPr lvl="0"/>
            <a:r>
              <a:rPr lang="nl-NL"/>
              <a:t>3</a:t>
            </a:r>
          </a:p>
        </p:txBody>
      </p:sp>
      <p:sp>
        <p:nvSpPr>
          <p:cNvPr id="29" name="Tijdelijke aanduiding voor tekst 2">
            <a:extLst>
              <a:ext uri="{FF2B5EF4-FFF2-40B4-BE49-F238E27FC236}">
                <a16:creationId xmlns:a16="http://schemas.microsoft.com/office/drawing/2014/main" id="{1AD35F9F-DE17-85C3-E1D1-C34564771DC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451003" y="5344304"/>
            <a:ext cx="4880856" cy="848832"/>
          </a:xfrm>
          <a:prstGeom prst="rect">
            <a:avLst/>
          </a:prstGeom>
        </p:spPr>
        <p:txBody>
          <a:bodyPr/>
          <a:lstStyle>
            <a:lvl1pPr>
              <a:lnSpc>
                <a:spcPct val="107000"/>
              </a:lnSpc>
              <a:defRPr sz="2450" b="0" i="0">
                <a:solidFill>
                  <a:schemeClr val="accent5"/>
                </a:solidFill>
                <a:latin typeface="Gentona Book" pitchFamily="2" charset="77"/>
              </a:defRPr>
            </a:lvl1pPr>
            <a:lvl2pPr marL="9526" indent="0">
              <a:lnSpc>
                <a:spcPct val="100000"/>
              </a:lnSpc>
              <a:tabLst/>
              <a:defRPr sz="1800" b="0" i="0">
                <a:solidFill>
                  <a:schemeClr val="accent3"/>
                </a:solidFill>
                <a:latin typeface="Gentona Book" pitchFamily="2" charset="77"/>
              </a:defRPr>
            </a:lvl2pPr>
            <a:lvl3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3pPr>
            <a:lvl4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4pPr>
            <a:lvl5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jdelijke aanduiding voor tekst 2">
            <a:extLst>
              <a:ext uri="{FF2B5EF4-FFF2-40B4-BE49-F238E27FC236}">
                <a16:creationId xmlns:a16="http://schemas.microsoft.com/office/drawing/2014/main" id="{CAF12D3D-E2B2-6909-E598-BFEF8C1669D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451003" y="6478736"/>
            <a:ext cx="4880856" cy="3093036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800" b="0" i="0">
                <a:solidFill>
                  <a:schemeClr val="accent5"/>
                </a:solidFill>
                <a:latin typeface="Gentona Book" pitchFamily="2" charset="77"/>
              </a:defRPr>
            </a:lvl1pPr>
            <a:lvl2pPr marL="9526" indent="0">
              <a:lnSpc>
                <a:spcPct val="100000"/>
              </a:lnSpc>
              <a:tabLst/>
              <a:defRPr sz="1800" b="0" i="0">
                <a:solidFill>
                  <a:schemeClr val="accent3"/>
                </a:solidFill>
                <a:latin typeface="Gentona Book" pitchFamily="2" charset="77"/>
              </a:defRPr>
            </a:lvl2pPr>
            <a:lvl3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3pPr>
            <a:lvl4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4pPr>
            <a:lvl5pPr>
              <a:lnSpc>
                <a:spcPts val="9901"/>
              </a:lnSpc>
              <a:defRPr sz="9901" b="0" i="0">
                <a:solidFill>
                  <a:schemeClr val="bg1"/>
                </a:solidFill>
                <a:latin typeface="Gentona Book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2654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6835934" y="10517697"/>
            <a:ext cx="643382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1005285" y="10517697"/>
            <a:ext cx="4624308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14476097" y="10517697"/>
            <a:ext cx="4624308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9786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00F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8847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 userDrawn="1">
          <p15:clr>
            <a:srgbClr val="FBAE40"/>
          </p15:clr>
        </p15:guide>
        <p15:guide id="2" pos="633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47" r:id="rId2"/>
    <p:sldLayoutId id="2147483750" r:id="rId3"/>
    <p:sldLayoutId id="2147483745" r:id="rId4"/>
    <p:sldLayoutId id="2147483746" r:id="rId5"/>
  </p:sldLayoutIdLst>
  <p:txStyles>
    <p:titleStyle>
      <a:lvl1pPr eaLnBrk="1" hangingPunct="1">
        <a:defRPr b="0" i="0">
          <a:latin typeface="Gentona Book" pitchFamily="2" charset="77"/>
          <a:ea typeface="+mj-ea"/>
          <a:cs typeface="+mj-cs"/>
        </a:defRPr>
      </a:lvl1pPr>
    </p:titleStyle>
    <p:bodyStyle>
      <a:lvl1pPr marL="0" eaLnBrk="1" hangingPunct="1">
        <a:defRPr b="0" i="0">
          <a:latin typeface="Gentona Book" pitchFamily="2" charset="77"/>
          <a:ea typeface="+mn-ea"/>
          <a:cs typeface="+mn-cs"/>
        </a:defRPr>
      </a:lvl1pPr>
      <a:lvl2pPr marL="457246" eaLnBrk="1" hangingPunct="1">
        <a:defRPr>
          <a:latin typeface="+mn-lt"/>
          <a:ea typeface="+mn-ea"/>
          <a:cs typeface="+mn-cs"/>
        </a:defRPr>
      </a:lvl2pPr>
      <a:lvl3pPr marL="914491" eaLnBrk="1" hangingPunct="1">
        <a:defRPr>
          <a:latin typeface="+mn-lt"/>
          <a:ea typeface="+mn-ea"/>
          <a:cs typeface="+mn-cs"/>
        </a:defRPr>
      </a:lvl3pPr>
      <a:lvl4pPr marL="1371737" eaLnBrk="1" hangingPunct="1">
        <a:defRPr>
          <a:latin typeface="+mn-lt"/>
          <a:ea typeface="+mn-ea"/>
          <a:cs typeface="+mn-cs"/>
        </a:defRPr>
      </a:lvl4pPr>
      <a:lvl5pPr marL="1828983" eaLnBrk="1" hangingPunct="1">
        <a:defRPr>
          <a:latin typeface="+mn-lt"/>
          <a:ea typeface="+mn-ea"/>
          <a:cs typeface="+mn-cs"/>
        </a:defRPr>
      </a:lvl5pPr>
      <a:lvl6pPr marL="2286229" eaLnBrk="1" hangingPunct="1">
        <a:defRPr>
          <a:latin typeface="+mn-lt"/>
          <a:ea typeface="+mn-ea"/>
          <a:cs typeface="+mn-cs"/>
        </a:defRPr>
      </a:lvl6pPr>
      <a:lvl7pPr marL="2743474" eaLnBrk="1" hangingPunct="1">
        <a:defRPr>
          <a:latin typeface="+mn-lt"/>
          <a:ea typeface="+mn-ea"/>
          <a:cs typeface="+mn-cs"/>
        </a:defRPr>
      </a:lvl7pPr>
      <a:lvl8pPr marL="3200720" eaLnBrk="1" hangingPunct="1">
        <a:defRPr>
          <a:latin typeface="+mn-lt"/>
          <a:ea typeface="+mn-ea"/>
          <a:cs typeface="+mn-cs"/>
        </a:defRPr>
      </a:lvl8pPr>
      <a:lvl9pPr marL="3657966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46" eaLnBrk="1" hangingPunct="1">
        <a:defRPr>
          <a:latin typeface="+mn-lt"/>
          <a:ea typeface="+mn-ea"/>
          <a:cs typeface="+mn-cs"/>
        </a:defRPr>
      </a:lvl2pPr>
      <a:lvl3pPr marL="914491" eaLnBrk="1" hangingPunct="1">
        <a:defRPr>
          <a:latin typeface="+mn-lt"/>
          <a:ea typeface="+mn-ea"/>
          <a:cs typeface="+mn-cs"/>
        </a:defRPr>
      </a:lvl3pPr>
      <a:lvl4pPr marL="1371737" eaLnBrk="1" hangingPunct="1">
        <a:defRPr>
          <a:latin typeface="+mn-lt"/>
          <a:ea typeface="+mn-ea"/>
          <a:cs typeface="+mn-cs"/>
        </a:defRPr>
      </a:lvl4pPr>
      <a:lvl5pPr marL="1828983" eaLnBrk="1" hangingPunct="1">
        <a:defRPr>
          <a:latin typeface="+mn-lt"/>
          <a:ea typeface="+mn-ea"/>
          <a:cs typeface="+mn-cs"/>
        </a:defRPr>
      </a:lvl5pPr>
      <a:lvl6pPr marL="2286229" eaLnBrk="1" hangingPunct="1">
        <a:defRPr>
          <a:latin typeface="+mn-lt"/>
          <a:ea typeface="+mn-ea"/>
          <a:cs typeface="+mn-cs"/>
        </a:defRPr>
      </a:lvl6pPr>
      <a:lvl7pPr marL="2743474" eaLnBrk="1" hangingPunct="1">
        <a:defRPr>
          <a:latin typeface="+mn-lt"/>
          <a:ea typeface="+mn-ea"/>
          <a:cs typeface="+mn-cs"/>
        </a:defRPr>
      </a:lvl7pPr>
      <a:lvl8pPr marL="3200720" eaLnBrk="1" hangingPunct="1">
        <a:defRPr>
          <a:latin typeface="+mn-lt"/>
          <a:ea typeface="+mn-ea"/>
          <a:cs typeface="+mn-cs"/>
        </a:defRPr>
      </a:lvl8pPr>
      <a:lvl9pPr marL="3657966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5071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</p:sldLayoutIdLst>
  <p:hf sldNum="0" hdr="0" ftr="0" dt="0"/>
  <p:txStyles>
    <p:titleStyle>
      <a:lvl1pPr algn="ctr" defTabSz="2010583" rtl="0" eaLnBrk="1" latinLnBrk="0" hangingPunct="1">
        <a:spcBef>
          <a:spcPct val="0"/>
        </a:spcBef>
        <a:buNone/>
        <a:defRPr sz="96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3969" indent="-753969" algn="l" defTabSz="2010583" rtl="0" eaLnBrk="1" latinLnBrk="0" hangingPunct="1">
        <a:spcBef>
          <a:spcPct val="20000"/>
        </a:spcBef>
        <a:buFont typeface="Arial" pitchFamily="34" charset="0"/>
        <a:buChar char="•"/>
        <a:defRPr sz="7036" kern="1200">
          <a:solidFill>
            <a:schemeClr val="tx1"/>
          </a:solidFill>
          <a:latin typeface="+mn-lt"/>
          <a:ea typeface="+mn-ea"/>
          <a:cs typeface="+mn-cs"/>
        </a:defRPr>
      </a:lvl1pPr>
      <a:lvl2pPr marL="1633598" indent="-628307" algn="l" defTabSz="2010583" rtl="0" eaLnBrk="1" latinLnBrk="0" hangingPunct="1">
        <a:spcBef>
          <a:spcPct val="20000"/>
        </a:spcBef>
        <a:buFont typeface="Arial" pitchFamily="34" charset="0"/>
        <a:buChar char="–"/>
        <a:defRPr sz="6157" kern="1200">
          <a:solidFill>
            <a:schemeClr val="tx1"/>
          </a:solidFill>
          <a:latin typeface="+mn-lt"/>
          <a:ea typeface="+mn-ea"/>
          <a:cs typeface="+mn-cs"/>
        </a:defRPr>
      </a:lvl2pPr>
      <a:lvl3pPr marL="2513228" indent="-502646" algn="l" defTabSz="2010583" rtl="0" eaLnBrk="1" latinLnBrk="0" hangingPunct="1">
        <a:spcBef>
          <a:spcPct val="20000"/>
        </a:spcBef>
        <a:buFont typeface="Arial" pitchFamily="34" charset="0"/>
        <a:buChar char="•"/>
        <a:defRPr sz="5277" kern="1200">
          <a:solidFill>
            <a:schemeClr val="tx1"/>
          </a:solidFill>
          <a:latin typeface="+mn-lt"/>
          <a:ea typeface="+mn-ea"/>
          <a:cs typeface="+mn-cs"/>
        </a:defRPr>
      </a:lvl3pPr>
      <a:lvl4pPr marL="3518520" indent="-502646" algn="l" defTabSz="2010583" rtl="0" eaLnBrk="1" latinLnBrk="0" hangingPunct="1">
        <a:spcBef>
          <a:spcPct val="20000"/>
        </a:spcBef>
        <a:buFont typeface="Arial" pitchFamily="34" charset="0"/>
        <a:buChar char="–"/>
        <a:defRPr sz="4398" kern="1200">
          <a:solidFill>
            <a:schemeClr val="tx1"/>
          </a:solidFill>
          <a:latin typeface="+mn-lt"/>
          <a:ea typeface="+mn-ea"/>
          <a:cs typeface="+mn-cs"/>
        </a:defRPr>
      </a:lvl4pPr>
      <a:lvl5pPr marL="4523811" indent="-502646" algn="l" defTabSz="2010583" rtl="0" eaLnBrk="1" latinLnBrk="0" hangingPunct="1">
        <a:spcBef>
          <a:spcPct val="20000"/>
        </a:spcBef>
        <a:buFont typeface="Arial" pitchFamily="34" charset="0"/>
        <a:buChar char="»"/>
        <a:defRPr sz="4398" kern="1200">
          <a:solidFill>
            <a:schemeClr val="tx1"/>
          </a:solidFill>
          <a:latin typeface="+mn-lt"/>
          <a:ea typeface="+mn-ea"/>
          <a:cs typeface="+mn-cs"/>
        </a:defRPr>
      </a:lvl5pPr>
      <a:lvl6pPr marL="5529102" indent="-502646" algn="l" defTabSz="2010583" rtl="0" eaLnBrk="1" latinLnBrk="0" hangingPunct="1">
        <a:spcBef>
          <a:spcPct val="20000"/>
        </a:spcBef>
        <a:buFont typeface="Arial" pitchFamily="34" charset="0"/>
        <a:buChar char="•"/>
        <a:defRPr sz="4398" kern="1200">
          <a:solidFill>
            <a:schemeClr val="tx1"/>
          </a:solidFill>
          <a:latin typeface="+mn-lt"/>
          <a:ea typeface="+mn-ea"/>
          <a:cs typeface="+mn-cs"/>
        </a:defRPr>
      </a:lvl6pPr>
      <a:lvl7pPr marL="6534394" indent="-502646" algn="l" defTabSz="2010583" rtl="0" eaLnBrk="1" latinLnBrk="0" hangingPunct="1">
        <a:spcBef>
          <a:spcPct val="20000"/>
        </a:spcBef>
        <a:buFont typeface="Arial" pitchFamily="34" charset="0"/>
        <a:buChar char="•"/>
        <a:defRPr sz="4398" kern="1200">
          <a:solidFill>
            <a:schemeClr val="tx1"/>
          </a:solidFill>
          <a:latin typeface="+mn-lt"/>
          <a:ea typeface="+mn-ea"/>
          <a:cs typeface="+mn-cs"/>
        </a:defRPr>
      </a:lvl7pPr>
      <a:lvl8pPr marL="7539685" indent="-502646" algn="l" defTabSz="2010583" rtl="0" eaLnBrk="1" latinLnBrk="0" hangingPunct="1">
        <a:spcBef>
          <a:spcPct val="20000"/>
        </a:spcBef>
        <a:buFont typeface="Arial" pitchFamily="34" charset="0"/>
        <a:buChar char="•"/>
        <a:defRPr sz="4398" kern="1200">
          <a:solidFill>
            <a:schemeClr val="tx1"/>
          </a:solidFill>
          <a:latin typeface="+mn-lt"/>
          <a:ea typeface="+mn-ea"/>
          <a:cs typeface="+mn-cs"/>
        </a:defRPr>
      </a:lvl8pPr>
      <a:lvl9pPr marL="8544977" indent="-502646" algn="l" defTabSz="2010583" rtl="0" eaLnBrk="1" latinLnBrk="0" hangingPunct="1">
        <a:spcBef>
          <a:spcPct val="20000"/>
        </a:spcBef>
        <a:buFont typeface="Arial" pitchFamily="34" charset="0"/>
        <a:buChar char="•"/>
        <a:defRPr sz="43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10583" rtl="0" eaLnBrk="1" latinLnBrk="0" hangingPunct="1">
        <a:defRPr sz="3958" kern="1200">
          <a:solidFill>
            <a:schemeClr val="tx1"/>
          </a:solidFill>
          <a:latin typeface="+mn-lt"/>
          <a:ea typeface="+mn-ea"/>
          <a:cs typeface="+mn-cs"/>
        </a:defRPr>
      </a:lvl1pPr>
      <a:lvl2pPr marL="1005291" algn="l" defTabSz="2010583" rtl="0" eaLnBrk="1" latinLnBrk="0" hangingPunct="1">
        <a:defRPr sz="3958" kern="1200">
          <a:solidFill>
            <a:schemeClr val="tx1"/>
          </a:solidFill>
          <a:latin typeface="+mn-lt"/>
          <a:ea typeface="+mn-ea"/>
          <a:cs typeface="+mn-cs"/>
        </a:defRPr>
      </a:lvl2pPr>
      <a:lvl3pPr marL="2010583" algn="l" defTabSz="2010583" rtl="0" eaLnBrk="1" latinLnBrk="0" hangingPunct="1">
        <a:defRPr sz="3958" kern="1200">
          <a:solidFill>
            <a:schemeClr val="tx1"/>
          </a:solidFill>
          <a:latin typeface="+mn-lt"/>
          <a:ea typeface="+mn-ea"/>
          <a:cs typeface="+mn-cs"/>
        </a:defRPr>
      </a:lvl3pPr>
      <a:lvl4pPr marL="3015874" algn="l" defTabSz="2010583" rtl="0" eaLnBrk="1" latinLnBrk="0" hangingPunct="1">
        <a:defRPr sz="3958" kern="1200">
          <a:solidFill>
            <a:schemeClr val="tx1"/>
          </a:solidFill>
          <a:latin typeface="+mn-lt"/>
          <a:ea typeface="+mn-ea"/>
          <a:cs typeface="+mn-cs"/>
        </a:defRPr>
      </a:lvl4pPr>
      <a:lvl5pPr marL="4021165" algn="l" defTabSz="2010583" rtl="0" eaLnBrk="1" latinLnBrk="0" hangingPunct="1">
        <a:defRPr sz="3958" kern="1200">
          <a:solidFill>
            <a:schemeClr val="tx1"/>
          </a:solidFill>
          <a:latin typeface="+mn-lt"/>
          <a:ea typeface="+mn-ea"/>
          <a:cs typeface="+mn-cs"/>
        </a:defRPr>
      </a:lvl5pPr>
      <a:lvl6pPr marL="5026457" algn="l" defTabSz="2010583" rtl="0" eaLnBrk="1" latinLnBrk="0" hangingPunct="1">
        <a:defRPr sz="3958" kern="1200">
          <a:solidFill>
            <a:schemeClr val="tx1"/>
          </a:solidFill>
          <a:latin typeface="+mn-lt"/>
          <a:ea typeface="+mn-ea"/>
          <a:cs typeface="+mn-cs"/>
        </a:defRPr>
      </a:lvl6pPr>
      <a:lvl7pPr marL="6031748" algn="l" defTabSz="2010583" rtl="0" eaLnBrk="1" latinLnBrk="0" hangingPunct="1">
        <a:defRPr sz="3958" kern="1200">
          <a:solidFill>
            <a:schemeClr val="tx1"/>
          </a:solidFill>
          <a:latin typeface="+mn-lt"/>
          <a:ea typeface="+mn-ea"/>
          <a:cs typeface="+mn-cs"/>
        </a:defRPr>
      </a:lvl7pPr>
      <a:lvl8pPr marL="7037040" algn="l" defTabSz="2010583" rtl="0" eaLnBrk="1" latinLnBrk="0" hangingPunct="1">
        <a:defRPr sz="3958" kern="1200">
          <a:solidFill>
            <a:schemeClr val="tx1"/>
          </a:solidFill>
          <a:latin typeface="+mn-lt"/>
          <a:ea typeface="+mn-ea"/>
          <a:cs typeface="+mn-cs"/>
        </a:defRPr>
      </a:lvl8pPr>
      <a:lvl9pPr marL="8042331" algn="l" defTabSz="2010583" rtl="0" eaLnBrk="1" latinLnBrk="0" hangingPunct="1">
        <a:defRPr sz="39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body-of-water-photography-734973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379AEF9D-E47E-4E3F-1E95-0AAE21B876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NL"/>
              <a:t>LINK WATERS</a:t>
            </a:r>
            <a:br>
              <a:rPr lang="en-NL"/>
            </a:br>
            <a:r>
              <a:rPr lang="en-NL" sz="5400" cap="all"/>
              <a:t>DIGITAL </a:t>
            </a:r>
            <a:r>
              <a:rPr lang="en-NL" sz="5400" cap="all" err="1"/>
              <a:t>Assistent</a:t>
            </a:r>
            <a:r>
              <a:rPr lang="en-NL" sz="5400" cap="all"/>
              <a:t>: </a:t>
            </a:r>
            <a:br>
              <a:rPr lang="en-NL" sz="5400" cap="all"/>
            </a:br>
            <a:r>
              <a:rPr lang="en-US" sz="5400" cap="all"/>
              <a:t>Drinking water security</a:t>
            </a:r>
            <a:endParaRPr lang="nl-NL" sz="540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2CAA203B-1C48-88AB-AB3F-F8016D8794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12946" y="7575550"/>
            <a:ext cx="6696614" cy="2711450"/>
          </a:xfrm>
        </p:spPr>
        <p:txBody>
          <a:bodyPr/>
          <a:lstStyle/>
          <a:p>
            <a:pPr algn="l"/>
            <a:r>
              <a:rPr lang="en-NL"/>
              <a:t>Jay </a:t>
            </a:r>
            <a:r>
              <a:rPr lang="en-NL" err="1"/>
              <a:t>Lakkad</a:t>
            </a:r>
            <a:br>
              <a:rPr lang="en-NL"/>
            </a:br>
            <a:r>
              <a:rPr lang="en-NL"/>
              <a:t>Maaike Stoops</a:t>
            </a:r>
            <a:br>
              <a:rPr lang="en-NL"/>
            </a:br>
            <a:r>
              <a:rPr lang="en-NL"/>
              <a:t>Igor van Oostveen</a:t>
            </a:r>
            <a:br>
              <a:rPr lang="en-NL"/>
            </a:br>
            <a:r>
              <a:rPr lang="en-NL"/>
              <a:t>Jennifer Lyklema</a:t>
            </a:r>
            <a:endParaRPr lang="nl-NL"/>
          </a:p>
        </p:txBody>
      </p:sp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4FD10045-1718-A4AE-FBED-7506C6D5D83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5515" r="2551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81800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59CA0-B556-5B4F-8125-9C3B24F7A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jdelijke aanduiding voor tekst 41">
            <a:extLst>
              <a:ext uri="{FF2B5EF4-FFF2-40B4-BE49-F238E27FC236}">
                <a16:creationId xmlns:a16="http://schemas.microsoft.com/office/drawing/2014/main" id="{3E8A417C-53C2-CC51-1286-CAC7D0745E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l-NL" err="1"/>
              <a:t>Many</a:t>
            </a:r>
            <a:r>
              <a:rPr lang="nl-NL"/>
              <a:t> </a:t>
            </a:r>
            <a:r>
              <a:rPr lang="nl-NL" err="1"/>
              <a:t>voices</a:t>
            </a:r>
            <a:r>
              <a:rPr lang="nl-NL"/>
              <a:t>,</a:t>
            </a:r>
          </a:p>
          <a:p>
            <a:r>
              <a:rPr lang="nl-NL" err="1"/>
              <a:t>one</a:t>
            </a:r>
            <a:r>
              <a:rPr lang="nl-NL"/>
              <a:t> </a:t>
            </a:r>
            <a:r>
              <a:rPr lang="nl-NL" err="1"/>
              <a:t>decision</a:t>
            </a:r>
            <a:endParaRPr lang="nl-NL"/>
          </a:p>
          <a:p>
            <a:endParaRPr lang="nl-NL"/>
          </a:p>
        </p:txBody>
      </p:sp>
      <p:sp>
        <p:nvSpPr>
          <p:cNvPr id="43" name="Tijdelijke aanduiding voor tekst 42">
            <a:extLst>
              <a:ext uri="{FF2B5EF4-FFF2-40B4-BE49-F238E27FC236}">
                <a16:creationId xmlns:a16="http://schemas.microsoft.com/office/drawing/2014/main" id="{7EA79FE7-9F82-E910-E1B6-C5557B5691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/>
              <a:t>THE CHALLENG</a:t>
            </a:r>
            <a:r>
              <a:rPr lang="en-NL"/>
              <a:t>E</a:t>
            </a:r>
            <a:endParaRPr lang="nl-NL"/>
          </a:p>
        </p:txBody>
      </p:sp>
      <p:sp>
        <p:nvSpPr>
          <p:cNvPr id="14" name="Body">
            <a:extLst>
              <a:ext uri="{FF2B5EF4-FFF2-40B4-BE49-F238E27FC236}">
                <a16:creationId xmlns:a16="http://schemas.microsoft.com/office/drawing/2014/main" id="{B0CE29F1-5589-E681-C0E2-FE818099D5D1}"/>
              </a:ext>
            </a:extLst>
          </p:cNvPr>
          <p:cNvSpPr/>
          <p:nvPr/>
        </p:nvSpPr>
        <p:spPr>
          <a:xfrm>
            <a:off x="1212946" y="4355690"/>
            <a:ext cx="8004796" cy="39624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en-US" sz="3200" b="0">
                <a:solidFill>
                  <a:schemeClr val="tx1"/>
                </a:solidFill>
                <a:latin typeface="Gentona Book" panose="00000500000000000000" pitchFamily="50" charset="0"/>
              </a:rPr>
              <a:t>Writing new drinking water policy requires aligning provinces, municipalities, water boards and universities — all at the same </a:t>
            </a:r>
            <a:r>
              <a:rPr lang="en-US" sz="3200">
                <a:solidFill>
                  <a:schemeClr val="tx1"/>
                </a:solidFill>
                <a:latin typeface="Gentona Book" panose="00000500000000000000" pitchFamily="50" charset="0"/>
              </a:rPr>
              <a:t>table.</a:t>
            </a:r>
          </a:p>
          <a:p>
            <a:pPr algn="l">
              <a:buNone/>
            </a:pPr>
            <a:r>
              <a:rPr lang="en-US" sz="3200">
                <a:solidFill>
                  <a:schemeClr val="tx1"/>
                </a:solidFill>
                <a:latin typeface="Gentona Book" panose="00000500000000000000" pitchFamily="50" charset="0"/>
              </a:rPr>
              <a:t>Each stakeholder is fixed on their own criteria. The reasoning behind each position stays hidden — making shared decisions slow and fragmented.</a:t>
            </a:r>
          </a:p>
          <a:p>
            <a:pPr algn="l">
              <a:buNone/>
            </a:pPr>
            <a:r>
              <a:rPr lang="en-US" sz="3200" b="1">
                <a:solidFill>
                  <a:schemeClr val="bg1"/>
                </a:solidFill>
                <a:latin typeface="Gentona Book" panose="00000500000000000000" pitchFamily="50" charset="0"/>
              </a:rPr>
              <a:t>Our tool helps </a:t>
            </a:r>
            <a:r>
              <a:rPr lang="en-NL" sz="3200" b="1">
                <a:solidFill>
                  <a:schemeClr val="bg1"/>
                </a:solidFill>
                <a:latin typeface="Gentona Book" panose="00000500000000000000" pitchFamily="50" charset="0"/>
              </a:rPr>
              <a:t>policy makers </a:t>
            </a:r>
            <a:r>
              <a:rPr lang="en-US" sz="3200" b="1">
                <a:solidFill>
                  <a:schemeClr val="bg1"/>
                </a:solidFill>
                <a:latin typeface="Gentona Book" panose="00000500000000000000" pitchFamily="50" charset="0"/>
              </a:rPr>
              <a:t>prepare meetings, streamline conversations, and ground decisions in objective data.</a:t>
            </a:r>
          </a:p>
        </p:txBody>
      </p:sp>
      <p:sp>
        <p:nvSpPr>
          <p:cNvPr id="25" name="Centre"/>
          <p:cNvSpPr>
            <a:spLocks noChangeAspect="1"/>
          </p:cNvSpPr>
          <p:nvPr/>
        </p:nvSpPr>
        <p:spPr>
          <a:xfrm>
            <a:off x="13701471" y="4229983"/>
            <a:ext cx="2160000" cy="2160000"/>
          </a:xfrm>
          <a:prstGeom prst="ellipse">
            <a:avLst/>
          </a:prstGeom>
          <a:solidFill>
            <a:schemeClr val="tx2"/>
          </a:solidFill>
          <a:ln w="0">
            <a:noFill/>
          </a:ln>
        </p:spPr>
        <p:txBody>
          <a:bodyPr lIns="63500" tIns="0" rIns="63500" bIns="0" anchor="ctr"/>
          <a:lstStyle/>
          <a:p>
            <a:pPr algn="ctr">
              <a:buNone/>
            </a:pPr>
            <a:r>
              <a:rPr lang="en-US" sz="2800" b="1">
                <a:solidFill>
                  <a:schemeClr val="bg1"/>
                </a:solidFill>
                <a:latin typeface="Gentona Book" panose="00000500000000000000" pitchFamily="50" charset="0"/>
              </a:rPr>
              <a:t>Policy</a:t>
            </a:r>
          </a:p>
          <a:p>
            <a:pPr algn="ctr">
              <a:buNone/>
            </a:pPr>
            <a:r>
              <a:rPr lang="en-US" sz="2800" b="1">
                <a:solidFill>
                  <a:schemeClr val="bg1"/>
                </a:solidFill>
                <a:latin typeface="Gentona Book" panose="00000500000000000000" pitchFamily="50" charset="0"/>
              </a:rPr>
              <a:t>Maker</a:t>
            </a:r>
          </a:p>
        </p:txBody>
      </p:sp>
      <p:sp>
        <p:nvSpPr>
          <p:cNvPr id="26" name="S0"/>
          <p:cNvSpPr>
            <a:spLocks noChangeAspect="1"/>
          </p:cNvSpPr>
          <p:nvPr/>
        </p:nvSpPr>
        <p:spPr>
          <a:xfrm>
            <a:off x="13701471" y="1314860"/>
            <a:ext cx="2160000" cy="216000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txBody>
          <a:bodyPr wrap="none" lIns="38100" tIns="0" rIns="38100" bIns="0" anchor="ctr"/>
          <a:lstStyle/>
          <a:p>
            <a:pPr algn="ctr">
              <a:buNone/>
            </a:pPr>
            <a:r>
              <a:rPr lang="en-US" sz="2800" b="1">
                <a:solidFill>
                  <a:srgbClr val="2A2438"/>
                </a:solidFill>
                <a:latin typeface="Gentona Book" panose="00000500000000000000" pitchFamily="50" charset="0"/>
              </a:rPr>
              <a:t>Province</a:t>
            </a:r>
          </a:p>
        </p:txBody>
      </p:sp>
      <p:sp>
        <p:nvSpPr>
          <p:cNvPr id="27" name="S1"/>
          <p:cNvSpPr>
            <a:spLocks noChangeAspect="1"/>
          </p:cNvSpPr>
          <p:nvPr/>
        </p:nvSpPr>
        <p:spPr>
          <a:xfrm>
            <a:off x="16490276" y="4229983"/>
            <a:ext cx="2160000" cy="216000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txBody>
          <a:bodyPr wrap="none" lIns="38100" tIns="0" rIns="38100" bIns="0" anchor="ctr"/>
          <a:lstStyle/>
          <a:p>
            <a:pPr algn="ctr">
              <a:buNone/>
            </a:pPr>
            <a:r>
              <a:rPr lang="en-US" sz="2800" b="1">
                <a:solidFill>
                  <a:srgbClr val="2A2438"/>
                </a:solidFill>
                <a:latin typeface="Gentona Book" panose="00000500000000000000" pitchFamily="50" charset="0"/>
              </a:rPr>
              <a:t>Municipality</a:t>
            </a:r>
          </a:p>
        </p:txBody>
      </p:sp>
      <p:sp>
        <p:nvSpPr>
          <p:cNvPr id="28" name="S2"/>
          <p:cNvSpPr>
            <a:spLocks noChangeAspect="1"/>
          </p:cNvSpPr>
          <p:nvPr/>
        </p:nvSpPr>
        <p:spPr>
          <a:xfrm>
            <a:off x="15097796" y="7266605"/>
            <a:ext cx="2160000" cy="216000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txBody>
          <a:bodyPr wrap="none" lIns="38100" tIns="0" rIns="38100" bIns="0" anchor="ctr"/>
          <a:lstStyle/>
          <a:p>
            <a:pPr algn="ctr">
              <a:buNone/>
            </a:pPr>
            <a:r>
              <a:rPr lang="en-US" sz="2800" b="1">
                <a:solidFill>
                  <a:srgbClr val="2A2438"/>
                </a:solidFill>
                <a:latin typeface="Gentona Book" panose="00000500000000000000" pitchFamily="50" charset="0"/>
              </a:rPr>
              <a:t>Water Board</a:t>
            </a:r>
          </a:p>
        </p:txBody>
      </p:sp>
      <p:sp>
        <p:nvSpPr>
          <p:cNvPr id="29" name="S3"/>
          <p:cNvSpPr>
            <a:spLocks noChangeAspect="1"/>
          </p:cNvSpPr>
          <p:nvPr/>
        </p:nvSpPr>
        <p:spPr>
          <a:xfrm>
            <a:off x="12224468" y="7266605"/>
            <a:ext cx="2160000" cy="216000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txBody>
          <a:bodyPr wrap="none" lIns="38100" tIns="0" rIns="38100" bIns="0" anchor="ctr"/>
          <a:lstStyle/>
          <a:p>
            <a:pPr algn="ctr">
              <a:buNone/>
            </a:pPr>
            <a:r>
              <a:rPr lang="en-US" sz="2800" b="1">
                <a:solidFill>
                  <a:srgbClr val="2A2438"/>
                </a:solidFill>
                <a:latin typeface="Gentona Book" panose="00000500000000000000" pitchFamily="50" charset="0"/>
              </a:rPr>
              <a:t>University</a:t>
            </a:r>
          </a:p>
        </p:txBody>
      </p:sp>
      <p:sp>
        <p:nvSpPr>
          <p:cNvPr id="30" name="S4"/>
          <p:cNvSpPr>
            <a:spLocks noChangeAspect="1"/>
          </p:cNvSpPr>
          <p:nvPr/>
        </p:nvSpPr>
        <p:spPr>
          <a:xfrm>
            <a:off x="10827549" y="4229983"/>
            <a:ext cx="2160000" cy="216000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txBody>
          <a:bodyPr wrap="none" lIns="38100" tIns="0" rIns="38100" bIns="0" anchor="ctr"/>
          <a:lstStyle/>
          <a:p>
            <a:pPr algn="ctr">
              <a:buNone/>
            </a:pPr>
            <a:r>
              <a:rPr lang="en-US" sz="2800" b="1">
                <a:solidFill>
                  <a:schemeClr val="tx1"/>
                </a:solidFill>
                <a:latin typeface="Gentona Book" panose="00000500000000000000" pitchFamily="50" charset="0"/>
              </a:rPr>
              <a:t>Nat. Gov.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852BBCD-FD3C-764A-316D-5FBF3AB71F91}"/>
              </a:ext>
            </a:extLst>
          </p:cNvPr>
          <p:cNvCxnSpPr>
            <a:cxnSpLocks/>
            <a:stCxn id="25" idx="2"/>
            <a:endCxn id="30" idx="6"/>
          </p:cNvCxnSpPr>
          <p:nvPr/>
        </p:nvCxnSpPr>
        <p:spPr>
          <a:xfrm flipH="1">
            <a:off x="12987549" y="5309983"/>
            <a:ext cx="7139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DF4420F-8EE4-B769-D62D-CFCE2996F32B}"/>
              </a:ext>
            </a:extLst>
          </p:cNvPr>
          <p:cNvCxnSpPr>
            <a:stCxn id="25" idx="6"/>
            <a:endCxn id="27" idx="2"/>
          </p:cNvCxnSpPr>
          <p:nvPr/>
        </p:nvCxnSpPr>
        <p:spPr>
          <a:xfrm>
            <a:off x="15861471" y="5309983"/>
            <a:ext cx="6288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480D1D0-CEDC-FB1C-3D1F-07F1ADE9BDA7}"/>
              </a:ext>
            </a:extLst>
          </p:cNvPr>
          <p:cNvCxnSpPr>
            <a:stCxn id="25" idx="0"/>
            <a:endCxn id="26" idx="4"/>
          </p:cNvCxnSpPr>
          <p:nvPr/>
        </p:nvCxnSpPr>
        <p:spPr>
          <a:xfrm flipV="1">
            <a:off x="14781471" y="3474860"/>
            <a:ext cx="0" cy="7551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FA2A038-E21A-1D31-1723-FD1EC22B63DF}"/>
              </a:ext>
            </a:extLst>
          </p:cNvPr>
          <p:cNvCxnSpPr>
            <a:cxnSpLocks/>
            <a:stCxn id="25" idx="3"/>
            <a:endCxn id="29" idx="0"/>
          </p:cNvCxnSpPr>
          <p:nvPr/>
        </p:nvCxnSpPr>
        <p:spPr>
          <a:xfrm flipH="1">
            <a:off x="13304468" y="6073658"/>
            <a:ext cx="713328" cy="11929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26FD5A9-493F-1E5D-58E7-1E3978B360D7}"/>
              </a:ext>
            </a:extLst>
          </p:cNvPr>
          <p:cNvCxnSpPr>
            <a:cxnSpLocks/>
            <a:stCxn id="25" idx="5"/>
            <a:endCxn id="28" idx="0"/>
          </p:cNvCxnSpPr>
          <p:nvPr/>
        </p:nvCxnSpPr>
        <p:spPr>
          <a:xfrm>
            <a:off x="15545146" y="6073658"/>
            <a:ext cx="632650" cy="11929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8037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27AB5-D297-F23D-B045-CBD6310E1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jdelijke aanduiding voor tekst 26">
            <a:extLst>
              <a:ext uri="{FF2B5EF4-FFF2-40B4-BE49-F238E27FC236}">
                <a16:creationId xmlns:a16="http://schemas.microsoft.com/office/drawing/2014/main" id="{7C64EED9-CA17-3AA5-4164-2A65949A46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l"/>
            <a:r>
              <a:rPr lang="en-NL" spc="300"/>
              <a:t>The challenge</a:t>
            </a:r>
            <a:endParaRPr lang="nl-NL"/>
          </a:p>
        </p:txBody>
      </p:sp>
      <p:sp>
        <p:nvSpPr>
          <p:cNvPr id="26" name="Tijdelijke aanduiding voor tekst 25">
            <a:extLst>
              <a:ext uri="{FF2B5EF4-FFF2-40B4-BE49-F238E27FC236}">
                <a16:creationId xmlns:a16="http://schemas.microsoft.com/office/drawing/2014/main" id="{FDCB4BEB-EF9D-4759-DD7C-7D37BEA7AE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1326" y="2402162"/>
            <a:ext cx="17381240" cy="1841588"/>
          </a:xfrm>
        </p:spPr>
        <p:txBody>
          <a:bodyPr/>
          <a:lstStyle/>
          <a:p>
            <a:r>
              <a:rPr lang="en-US" sz="6400" b="1"/>
              <a:t>From fragmented opinions to shared scenarios</a:t>
            </a:r>
            <a:endParaRPr lang="en-NL" sz="6400" b="1"/>
          </a:p>
        </p:txBody>
      </p:sp>
      <p:sp>
        <p:nvSpPr>
          <p:cNvPr id="28" name="Tijdelijke aanduiding voor tekst 27">
            <a:extLst>
              <a:ext uri="{FF2B5EF4-FFF2-40B4-BE49-F238E27FC236}">
                <a16:creationId xmlns:a16="http://schemas.microsoft.com/office/drawing/2014/main" id="{723D6867-5852-8F9C-7D3F-EE465B5BE8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NL" sz="3200">
                <a:solidFill>
                  <a:schemeClr val="bg1"/>
                </a:solidFill>
              </a:rPr>
              <a:t>Today</a:t>
            </a:r>
            <a:endParaRPr lang="nl-NL" sz="3200">
              <a:solidFill>
                <a:schemeClr val="bg1"/>
              </a:solidFill>
            </a:endParaRPr>
          </a:p>
        </p:txBody>
      </p:sp>
      <p:sp>
        <p:nvSpPr>
          <p:cNvPr id="29" name="Tijdelijke aanduiding voor tekst 28">
            <a:extLst>
              <a:ext uri="{FF2B5EF4-FFF2-40B4-BE49-F238E27FC236}">
                <a16:creationId xmlns:a16="http://schemas.microsoft.com/office/drawing/2014/main" id="{72893867-5C76-99F1-E780-CBB37551E2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3600" b="1"/>
              <a:t>Every stakeholder</a:t>
            </a:r>
          </a:p>
          <a:p>
            <a:r>
              <a:rPr lang="en-US" sz="3600" b="1"/>
              <a:t>has their own lens</a:t>
            </a:r>
            <a:endParaRPr lang="nl-NL" sz="3600" b="1"/>
          </a:p>
        </p:txBody>
      </p:sp>
      <p:sp>
        <p:nvSpPr>
          <p:cNvPr id="30" name="Tijdelijke aanduiding voor tekst 29">
            <a:extLst>
              <a:ext uri="{FF2B5EF4-FFF2-40B4-BE49-F238E27FC236}">
                <a16:creationId xmlns:a16="http://schemas.microsoft.com/office/drawing/2014/main" id="{19380445-BF61-1EF8-A329-E414D4E432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algn="l"/>
            <a:r>
              <a:rPr lang="en-US" sz="2800">
                <a:solidFill>
                  <a:schemeClr val="tx1"/>
                </a:solidFill>
              </a:rPr>
              <a:t>I sit at the table with the province, the water board, and the municipality. Every party defends their position — but the reasoning behind it stays invisible to everyone else.</a:t>
            </a:r>
          </a:p>
          <a:p>
            <a:endParaRPr lang="nl-NL" sz="2800"/>
          </a:p>
        </p:txBody>
      </p:sp>
      <p:sp>
        <p:nvSpPr>
          <p:cNvPr id="31" name="Tijdelijke aanduiding voor tekst 30">
            <a:extLst>
              <a:ext uri="{FF2B5EF4-FFF2-40B4-BE49-F238E27FC236}">
                <a16:creationId xmlns:a16="http://schemas.microsoft.com/office/drawing/2014/main" id="{625B993F-16CD-A956-75FB-E33C067FEB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NL" sz="3200">
                <a:solidFill>
                  <a:schemeClr val="bg1"/>
                </a:solidFill>
              </a:rPr>
              <a:t>The problem</a:t>
            </a:r>
            <a:endParaRPr lang="en-US" sz="3200">
              <a:solidFill>
                <a:schemeClr val="bg1"/>
              </a:solidFill>
            </a:endParaRPr>
          </a:p>
          <a:p>
            <a:endParaRPr lang="nl-NL" sz="3200">
              <a:solidFill>
                <a:schemeClr val="bg1"/>
              </a:solidFill>
            </a:endParaRPr>
          </a:p>
        </p:txBody>
      </p:sp>
      <p:sp>
        <p:nvSpPr>
          <p:cNvPr id="32" name="Tijdelijke aanduiding voor tekst 31">
            <a:extLst>
              <a:ext uri="{FF2B5EF4-FFF2-40B4-BE49-F238E27FC236}">
                <a16:creationId xmlns:a16="http://schemas.microsoft.com/office/drawing/2014/main" id="{4EE31B60-7D50-5C91-A8A4-E906DCCC8EE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sz="3600" b="1"/>
              <a:t>Hidden reasoning</a:t>
            </a:r>
          </a:p>
          <a:p>
            <a:r>
              <a:rPr lang="en-US" sz="3600" b="1"/>
              <a:t>breaks alignment</a:t>
            </a:r>
          </a:p>
          <a:p>
            <a:endParaRPr lang="nl-NL" sz="3600" b="1"/>
          </a:p>
        </p:txBody>
      </p:sp>
      <p:sp>
        <p:nvSpPr>
          <p:cNvPr id="33" name="Tijdelijke aanduiding voor tekst 32">
            <a:extLst>
              <a:ext uri="{FF2B5EF4-FFF2-40B4-BE49-F238E27FC236}">
                <a16:creationId xmlns:a16="http://schemas.microsoft.com/office/drawing/2014/main" id="{8A83E5C6-2F1A-C033-2979-D5DF2F5654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algn="l"/>
            <a:r>
              <a:rPr lang="en-US" sz="2800">
                <a:solidFill>
                  <a:schemeClr val="tx1"/>
                </a:solidFill>
              </a:rPr>
              <a:t>Without a shared framework, discussions become circular. Trade-offs are unclear, assumptions go untested, and decisions lack the objective grounding needed for robust water policy.</a:t>
            </a:r>
          </a:p>
          <a:p>
            <a:endParaRPr lang="nl-NL" sz="2800"/>
          </a:p>
        </p:txBody>
      </p:sp>
      <p:sp>
        <p:nvSpPr>
          <p:cNvPr id="34" name="Tijdelijke aanduiding voor tekst 33">
            <a:extLst>
              <a:ext uri="{FF2B5EF4-FFF2-40B4-BE49-F238E27FC236}">
                <a16:creationId xmlns:a16="http://schemas.microsoft.com/office/drawing/2014/main" id="{F0C7D182-7F5A-CF43-C286-B643C32B2DE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NL" sz="3200">
                <a:solidFill>
                  <a:schemeClr val="bg1"/>
                </a:solidFill>
              </a:rPr>
              <a:t>Our solution</a:t>
            </a:r>
            <a:endParaRPr lang="en-US" sz="3200">
              <a:solidFill>
                <a:schemeClr val="bg1"/>
              </a:solidFill>
            </a:endParaRPr>
          </a:p>
          <a:p>
            <a:endParaRPr lang="nl-NL" sz="3200">
              <a:solidFill>
                <a:schemeClr val="bg1"/>
              </a:solidFill>
            </a:endParaRPr>
          </a:p>
        </p:txBody>
      </p:sp>
      <p:sp>
        <p:nvSpPr>
          <p:cNvPr id="35" name="Tijdelijke aanduiding voor tekst 34">
            <a:extLst>
              <a:ext uri="{FF2B5EF4-FFF2-40B4-BE49-F238E27FC236}">
                <a16:creationId xmlns:a16="http://schemas.microsoft.com/office/drawing/2014/main" id="{9E65B18C-96E9-B1CC-1DB3-A0CBEB169BC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algn="l">
              <a:buNone/>
            </a:pPr>
            <a:r>
              <a:rPr lang="en-US" sz="3600" b="1"/>
              <a:t>Scenario Simulator:</a:t>
            </a:r>
          </a:p>
          <a:p>
            <a:pPr algn="l">
              <a:buNone/>
            </a:pPr>
            <a:r>
              <a:rPr lang="en-US" sz="3600" b="1"/>
              <a:t>Water World</a:t>
            </a:r>
          </a:p>
        </p:txBody>
      </p:sp>
      <p:sp>
        <p:nvSpPr>
          <p:cNvPr id="36" name="Tijdelijke aanduiding voor tekst 35">
            <a:extLst>
              <a:ext uri="{FF2B5EF4-FFF2-40B4-BE49-F238E27FC236}">
                <a16:creationId xmlns:a16="http://schemas.microsoft.com/office/drawing/2014/main" id="{268C4C35-1296-CC20-D867-9DDCE7F1E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algn="l"/>
            <a:r>
              <a:rPr lang="en-US" sz="2800">
                <a:solidFill>
                  <a:schemeClr val="tx1"/>
                </a:solidFill>
              </a:rPr>
              <a:t>A tool that shifts the conversation from fixed positions to shared scenarios. Stakeholders explore what-if futures together, backed by objective data — streamlining decisions and building consensus.</a:t>
            </a:r>
          </a:p>
          <a:p>
            <a:endParaRPr lang="nl-NL" sz="2800"/>
          </a:p>
        </p:txBody>
      </p:sp>
    </p:spTree>
    <p:extLst>
      <p:ext uri="{BB962C8B-B14F-4D97-AF65-F5344CB8AC3E}">
        <p14:creationId xmlns:p14="http://schemas.microsoft.com/office/powerpoint/2010/main" val="1081244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A2F8A-719B-EB63-B230-D0BF9C835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jdelijke aanduiding voor tekst 41">
            <a:extLst>
              <a:ext uri="{FF2B5EF4-FFF2-40B4-BE49-F238E27FC236}">
                <a16:creationId xmlns:a16="http://schemas.microsoft.com/office/drawing/2014/main" id="{F9F2D0C3-8081-DEE0-FF89-194C7DBCCD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l-NL" err="1"/>
              <a:t>Many</a:t>
            </a:r>
            <a:r>
              <a:rPr lang="nl-NL"/>
              <a:t> </a:t>
            </a:r>
            <a:r>
              <a:rPr lang="nl-NL" err="1"/>
              <a:t>voices</a:t>
            </a:r>
            <a:r>
              <a:rPr lang="nl-NL"/>
              <a:t>,</a:t>
            </a:r>
          </a:p>
          <a:p>
            <a:r>
              <a:rPr lang="nl-NL" err="1"/>
              <a:t>one</a:t>
            </a:r>
            <a:r>
              <a:rPr lang="nl-NL"/>
              <a:t> </a:t>
            </a:r>
            <a:r>
              <a:rPr lang="nl-NL" err="1"/>
              <a:t>decision</a:t>
            </a:r>
            <a:endParaRPr lang="nl-NL"/>
          </a:p>
          <a:p>
            <a:endParaRPr lang="nl-NL"/>
          </a:p>
        </p:txBody>
      </p:sp>
      <p:sp>
        <p:nvSpPr>
          <p:cNvPr id="43" name="Tijdelijke aanduiding voor tekst 42">
            <a:extLst>
              <a:ext uri="{FF2B5EF4-FFF2-40B4-BE49-F238E27FC236}">
                <a16:creationId xmlns:a16="http://schemas.microsoft.com/office/drawing/2014/main" id="{654CA19A-E306-3ADB-1E28-666108A9F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/>
              <a:t>THE CHALLENG</a:t>
            </a:r>
            <a:r>
              <a:rPr lang="en-NL"/>
              <a:t>E</a:t>
            </a:r>
            <a:endParaRPr lang="nl-NL"/>
          </a:p>
        </p:txBody>
      </p:sp>
      <p:sp>
        <p:nvSpPr>
          <p:cNvPr id="14" name="Body">
            <a:extLst>
              <a:ext uri="{FF2B5EF4-FFF2-40B4-BE49-F238E27FC236}">
                <a16:creationId xmlns:a16="http://schemas.microsoft.com/office/drawing/2014/main" id="{08EC0B61-8391-F915-D7FE-40BA626E746E}"/>
              </a:ext>
            </a:extLst>
          </p:cNvPr>
          <p:cNvSpPr/>
          <p:nvPr/>
        </p:nvSpPr>
        <p:spPr>
          <a:xfrm>
            <a:off x="1212946" y="4355690"/>
            <a:ext cx="8004796" cy="39624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0">
                <a:solidFill>
                  <a:schemeClr val="tx1"/>
                </a:solidFill>
                <a:latin typeface="Gentona Book" panose="00000500000000000000" pitchFamily="50" charset="0"/>
              </a:rPr>
              <a:t>Writing new drinking water policy requires aligning provinces, municipalities, water boards and universities</a:t>
            </a:r>
            <a:r>
              <a:rPr lang="en-NL" sz="3200" b="0">
                <a:solidFill>
                  <a:schemeClr val="tx1"/>
                </a:solidFill>
                <a:latin typeface="Gentona Book" panose="00000500000000000000" pitchFamily="50" charset="0"/>
              </a:rPr>
              <a:t>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tx1"/>
                </a:solidFill>
                <a:latin typeface="Gentona Book" panose="00000500000000000000" pitchFamily="50" charset="0"/>
              </a:rPr>
              <a:t>Each stakeholder </a:t>
            </a:r>
            <a:r>
              <a:rPr lang="en-NL" sz="3200">
                <a:solidFill>
                  <a:schemeClr val="tx1"/>
                </a:solidFill>
                <a:latin typeface="Gentona Book" panose="00000500000000000000" pitchFamily="50" charset="0"/>
              </a:rPr>
              <a:t>has </a:t>
            </a:r>
            <a:r>
              <a:rPr lang="en-US" sz="3200">
                <a:solidFill>
                  <a:schemeClr val="tx1"/>
                </a:solidFill>
                <a:latin typeface="Gentona Book" panose="00000500000000000000" pitchFamily="50" charset="0"/>
              </a:rPr>
              <a:t>their own </a:t>
            </a:r>
            <a:r>
              <a:rPr lang="en-NL" sz="3200">
                <a:solidFill>
                  <a:schemeClr val="tx1"/>
                </a:solidFill>
                <a:latin typeface="Gentona Book" panose="00000500000000000000" pitchFamily="50" charset="0"/>
              </a:rPr>
              <a:t>perspective</a:t>
            </a:r>
            <a:r>
              <a:rPr lang="en-US" sz="3200">
                <a:solidFill>
                  <a:schemeClr val="tx1"/>
                </a:solidFill>
                <a:latin typeface="Gentona Book" panose="00000500000000000000" pitchFamily="50" charset="0"/>
              </a:rPr>
              <a:t>. </a:t>
            </a:r>
            <a:r>
              <a:rPr lang="en-NL" sz="3200">
                <a:solidFill>
                  <a:schemeClr val="tx1"/>
                </a:solidFill>
                <a:latin typeface="Gentona Book" panose="00000500000000000000" pitchFamily="50" charset="0"/>
              </a:rPr>
              <a:t>A lot of information is in heads, </a:t>
            </a:r>
            <a:r>
              <a:rPr lang="en-US" sz="3200">
                <a:solidFill>
                  <a:schemeClr val="tx1"/>
                </a:solidFill>
                <a:latin typeface="Gentona Book" panose="00000500000000000000" pitchFamily="50" charset="0"/>
              </a:rPr>
              <a:t>making shared decisions slow and fragmented.</a:t>
            </a:r>
          </a:p>
          <a:p>
            <a:pPr algn="l">
              <a:buNone/>
            </a:pPr>
            <a:r>
              <a:rPr lang="en-US" sz="3200" b="1">
                <a:solidFill>
                  <a:schemeClr val="bg1"/>
                </a:solidFill>
                <a:latin typeface="Gentona Book" panose="00000500000000000000" pitchFamily="50" charset="0"/>
              </a:rPr>
              <a:t>Our tool helps </a:t>
            </a:r>
            <a:r>
              <a:rPr lang="en-NL" sz="3200" b="1">
                <a:solidFill>
                  <a:schemeClr val="bg1"/>
                </a:solidFill>
                <a:latin typeface="Gentona Book" panose="00000500000000000000" pitchFamily="50" charset="0"/>
              </a:rPr>
              <a:t>policy makers </a:t>
            </a:r>
            <a:r>
              <a:rPr lang="en-US" sz="3200" b="1">
                <a:solidFill>
                  <a:schemeClr val="bg1"/>
                </a:solidFill>
                <a:latin typeface="Gentona Book" panose="00000500000000000000" pitchFamily="50" charset="0"/>
              </a:rPr>
              <a:t>prepare meetings, streamline conversations, and ground decisions in objective data.</a:t>
            </a:r>
          </a:p>
        </p:txBody>
      </p:sp>
      <p:sp>
        <p:nvSpPr>
          <p:cNvPr id="25" name="Centre">
            <a:extLst>
              <a:ext uri="{FF2B5EF4-FFF2-40B4-BE49-F238E27FC236}">
                <a16:creationId xmlns:a16="http://schemas.microsoft.com/office/drawing/2014/main" id="{9C16F7F3-3FC7-FA94-5192-50E1F863DBB7}"/>
              </a:ext>
            </a:extLst>
          </p:cNvPr>
          <p:cNvSpPr>
            <a:spLocks noChangeAspect="1"/>
          </p:cNvSpPr>
          <p:nvPr/>
        </p:nvSpPr>
        <p:spPr>
          <a:xfrm>
            <a:off x="13701471" y="4229983"/>
            <a:ext cx="2160000" cy="2160000"/>
          </a:xfrm>
          <a:prstGeom prst="ellipse">
            <a:avLst/>
          </a:prstGeom>
          <a:solidFill>
            <a:schemeClr val="tx2"/>
          </a:solidFill>
          <a:ln w="0">
            <a:noFill/>
          </a:ln>
        </p:spPr>
        <p:txBody>
          <a:bodyPr lIns="63500" tIns="0" rIns="63500" bIns="0" anchor="ctr"/>
          <a:lstStyle/>
          <a:p>
            <a:pPr algn="ctr">
              <a:buNone/>
            </a:pPr>
            <a:r>
              <a:rPr lang="en-US" sz="2800" b="1">
                <a:solidFill>
                  <a:schemeClr val="bg1"/>
                </a:solidFill>
                <a:latin typeface="Gentona Book" panose="00000500000000000000" pitchFamily="50" charset="0"/>
              </a:rPr>
              <a:t>Policy</a:t>
            </a:r>
          </a:p>
          <a:p>
            <a:pPr algn="ctr">
              <a:buNone/>
            </a:pPr>
            <a:r>
              <a:rPr lang="en-US" sz="2800" b="1">
                <a:solidFill>
                  <a:schemeClr val="bg1"/>
                </a:solidFill>
                <a:latin typeface="Gentona Book" panose="00000500000000000000" pitchFamily="50" charset="0"/>
              </a:rPr>
              <a:t>Maker</a:t>
            </a:r>
          </a:p>
        </p:txBody>
      </p:sp>
      <p:sp>
        <p:nvSpPr>
          <p:cNvPr id="26" name="S0">
            <a:extLst>
              <a:ext uri="{FF2B5EF4-FFF2-40B4-BE49-F238E27FC236}">
                <a16:creationId xmlns:a16="http://schemas.microsoft.com/office/drawing/2014/main" id="{D08E67B7-DBD7-1D30-C916-F83D53158546}"/>
              </a:ext>
            </a:extLst>
          </p:cNvPr>
          <p:cNvSpPr>
            <a:spLocks noChangeAspect="1"/>
          </p:cNvSpPr>
          <p:nvPr/>
        </p:nvSpPr>
        <p:spPr>
          <a:xfrm>
            <a:off x="13701471" y="1314860"/>
            <a:ext cx="2160000" cy="216000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txBody>
          <a:bodyPr wrap="none" lIns="38100" tIns="0" rIns="38100" bIns="0" anchor="ctr"/>
          <a:lstStyle/>
          <a:p>
            <a:pPr algn="ctr">
              <a:buNone/>
            </a:pPr>
            <a:r>
              <a:rPr lang="en-US" sz="2800" b="1">
                <a:solidFill>
                  <a:srgbClr val="2A2438"/>
                </a:solidFill>
                <a:latin typeface="Gentona Book" panose="00000500000000000000" pitchFamily="50" charset="0"/>
              </a:rPr>
              <a:t>Province</a:t>
            </a:r>
          </a:p>
        </p:txBody>
      </p:sp>
      <p:sp>
        <p:nvSpPr>
          <p:cNvPr id="27" name="S1">
            <a:extLst>
              <a:ext uri="{FF2B5EF4-FFF2-40B4-BE49-F238E27FC236}">
                <a16:creationId xmlns:a16="http://schemas.microsoft.com/office/drawing/2014/main" id="{6055696F-7E7B-D843-A1FB-3C3305DF2A53}"/>
              </a:ext>
            </a:extLst>
          </p:cNvPr>
          <p:cNvSpPr>
            <a:spLocks noChangeAspect="1"/>
          </p:cNvSpPr>
          <p:nvPr/>
        </p:nvSpPr>
        <p:spPr>
          <a:xfrm>
            <a:off x="16490276" y="4229983"/>
            <a:ext cx="2160000" cy="216000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txBody>
          <a:bodyPr wrap="none" lIns="38100" tIns="0" rIns="38100" bIns="0" anchor="ctr"/>
          <a:lstStyle/>
          <a:p>
            <a:pPr algn="ctr">
              <a:buNone/>
            </a:pPr>
            <a:r>
              <a:rPr lang="en-US" sz="2800" b="1">
                <a:solidFill>
                  <a:srgbClr val="2A2438"/>
                </a:solidFill>
                <a:latin typeface="Gentona Book" panose="00000500000000000000" pitchFamily="50" charset="0"/>
              </a:rPr>
              <a:t>Municipality</a:t>
            </a:r>
          </a:p>
        </p:txBody>
      </p:sp>
      <p:sp>
        <p:nvSpPr>
          <p:cNvPr id="28" name="S2">
            <a:extLst>
              <a:ext uri="{FF2B5EF4-FFF2-40B4-BE49-F238E27FC236}">
                <a16:creationId xmlns:a16="http://schemas.microsoft.com/office/drawing/2014/main" id="{357D3937-3569-4D8E-907E-C63C3B3FA259}"/>
              </a:ext>
            </a:extLst>
          </p:cNvPr>
          <p:cNvSpPr>
            <a:spLocks noChangeAspect="1"/>
          </p:cNvSpPr>
          <p:nvPr/>
        </p:nvSpPr>
        <p:spPr>
          <a:xfrm>
            <a:off x="15097796" y="7266605"/>
            <a:ext cx="2160000" cy="216000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txBody>
          <a:bodyPr wrap="none" lIns="38100" tIns="0" rIns="38100" bIns="0" anchor="ctr"/>
          <a:lstStyle/>
          <a:p>
            <a:pPr algn="ctr">
              <a:buNone/>
            </a:pPr>
            <a:r>
              <a:rPr lang="en-US" sz="2800" b="1">
                <a:solidFill>
                  <a:srgbClr val="2A2438"/>
                </a:solidFill>
                <a:latin typeface="Gentona Book" panose="00000500000000000000" pitchFamily="50" charset="0"/>
              </a:rPr>
              <a:t>Water Board</a:t>
            </a:r>
          </a:p>
        </p:txBody>
      </p:sp>
      <p:sp>
        <p:nvSpPr>
          <p:cNvPr id="29" name="S3">
            <a:extLst>
              <a:ext uri="{FF2B5EF4-FFF2-40B4-BE49-F238E27FC236}">
                <a16:creationId xmlns:a16="http://schemas.microsoft.com/office/drawing/2014/main" id="{2CA33963-ED72-14AF-F94A-BF3842013B85}"/>
              </a:ext>
            </a:extLst>
          </p:cNvPr>
          <p:cNvSpPr>
            <a:spLocks noChangeAspect="1"/>
          </p:cNvSpPr>
          <p:nvPr/>
        </p:nvSpPr>
        <p:spPr>
          <a:xfrm>
            <a:off x="12224468" y="7266605"/>
            <a:ext cx="2160000" cy="216000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txBody>
          <a:bodyPr wrap="none" lIns="38100" tIns="0" rIns="38100" bIns="0" anchor="ctr"/>
          <a:lstStyle/>
          <a:p>
            <a:pPr algn="ctr">
              <a:buNone/>
            </a:pPr>
            <a:r>
              <a:rPr lang="en-US" sz="2800" b="1">
                <a:solidFill>
                  <a:srgbClr val="2A2438"/>
                </a:solidFill>
                <a:latin typeface="Gentona Book" panose="00000500000000000000" pitchFamily="50" charset="0"/>
              </a:rPr>
              <a:t>University</a:t>
            </a:r>
          </a:p>
        </p:txBody>
      </p:sp>
      <p:sp>
        <p:nvSpPr>
          <p:cNvPr id="30" name="S4">
            <a:extLst>
              <a:ext uri="{FF2B5EF4-FFF2-40B4-BE49-F238E27FC236}">
                <a16:creationId xmlns:a16="http://schemas.microsoft.com/office/drawing/2014/main" id="{74F2DB9C-4AC4-A82A-BCE1-1F491626DDC8}"/>
              </a:ext>
            </a:extLst>
          </p:cNvPr>
          <p:cNvSpPr>
            <a:spLocks noChangeAspect="1"/>
          </p:cNvSpPr>
          <p:nvPr/>
        </p:nvSpPr>
        <p:spPr>
          <a:xfrm>
            <a:off x="10827549" y="4229983"/>
            <a:ext cx="2160000" cy="216000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txBody>
          <a:bodyPr wrap="none" lIns="38100" tIns="0" rIns="38100" bIns="0" anchor="ctr"/>
          <a:lstStyle/>
          <a:p>
            <a:pPr algn="ctr">
              <a:buNone/>
            </a:pPr>
            <a:r>
              <a:rPr lang="en-US" sz="2800" b="1">
                <a:solidFill>
                  <a:schemeClr val="tx1"/>
                </a:solidFill>
                <a:latin typeface="Gentona Book" panose="00000500000000000000" pitchFamily="50" charset="0"/>
              </a:rPr>
              <a:t>Nat. Gov.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C55074E-D690-1770-D5F9-5335D5FDDBA5}"/>
              </a:ext>
            </a:extLst>
          </p:cNvPr>
          <p:cNvCxnSpPr>
            <a:cxnSpLocks/>
            <a:stCxn id="25" idx="2"/>
            <a:endCxn id="30" idx="6"/>
          </p:cNvCxnSpPr>
          <p:nvPr/>
        </p:nvCxnSpPr>
        <p:spPr>
          <a:xfrm flipH="1">
            <a:off x="12987549" y="5309983"/>
            <a:ext cx="7139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5795DEA-3CC6-C7F2-AD81-DFBDCE06F750}"/>
              </a:ext>
            </a:extLst>
          </p:cNvPr>
          <p:cNvCxnSpPr>
            <a:stCxn id="25" idx="6"/>
            <a:endCxn id="27" idx="2"/>
          </p:cNvCxnSpPr>
          <p:nvPr/>
        </p:nvCxnSpPr>
        <p:spPr>
          <a:xfrm>
            <a:off x="15861471" y="5309983"/>
            <a:ext cx="6288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F3BBAC5-83F4-DC5B-8337-7C28D28C9D53}"/>
              </a:ext>
            </a:extLst>
          </p:cNvPr>
          <p:cNvCxnSpPr>
            <a:stCxn id="25" idx="0"/>
            <a:endCxn id="26" idx="4"/>
          </p:cNvCxnSpPr>
          <p:nvPr/>
        </p:nvCxnSpPr>
        <p:spPr>
          <a:xfrm flipV="1">
            <a:off x="14781471" y="3474860"/>
            <a:ext cx="0" cy="7551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917E970-10BB-013F-3374-C702BD2B1515}"/>
              </a:ext>
            </a:extLst>
          </p:cNvPr>
          <p:cNvCxnSpPr>
            <a:cxnSpLocks/>
            <a:stCxn id="25" idx="3"/>
            <a:endCxn id="29" idx="0"/>
          </p:cNvCxnSpPr>
          <p:nvPr/>
        </p:nvCxnSpPr>
        <p:spPr>
          <a:xfrm flipH="1">
            <a:off x="13304468" y="6073658"/>
            <a:ext cx="713328" cy="11929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CF3D4B7-1C9E-7BC9-EFDA-2EC611AF1410}"/>
              </a:ext>
            </a:extLst>
          </p:cNvPr>
          <p:cNvCxnSpPr>
            <a:cxnSpLocks/>
            <a:stCxn id="25" idx="5"/>
            <a:endCxn id="28" idx="0"/>
          </p:cNvCxnSpPr>
          <p:nvPr/>
        </p:nvCxnSpPr>
        <p:spPr>
          <a:xfrm>
            <a:off x="15545146" y="6073658"/>
            <a:ext cx="632650" cy="11929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070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E3DDF7E-7618-BB5D-5856-E4BB172DC9DD}"/>
              </a:ext>
            </a:extLst>
          </p:cNvPr>
          <p:cNvSpPr/>
          <p:nvPr/>
        </p:nvSpPr>
        <p:spPr>
          <a:xfrm>
            <a:off x="89" y="0"/>
            <a:ext cx="20105511" cy="1507913"/>
          </a:xfrm>
          <a:prstGeom prst="rect">
            <a:avLst/>
          </a:prstGeom>
          <a:solidFill>
            <a:srgbClr val="3873EE"/>
          </a:solidFill>
          <a:ln w="12700">
            <a:solidFill>
              <a:srgbClr val="3873EE"/>
            </a:solidFill>
            <a:prstDash val="solid"/>
          </a:ln>
        </p:spPr>
        <p:txBody>
          <a:bodyPr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9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368AE20-1B4C-4ACC-4B45-DC1614F27E7B}"/>
              </a:ext>
            </a:extLst>
          </p:cNvPr>
          <p:cNvSpPr/>
          <p:nvPr/>
        </p:nvSpPr>
        <p:spPr>
          <a:xfrm>
            <a:off x="603254" y="0"/>
            <a:ext cx="18094960" cy="1507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78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OVERVIEW</a:t>
            </a:r>
            <a:endParaRPr kumimoji="0" lang="en-US" sz="307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FA4CDB8-F321-2044-AB86-B7D3D431B658}"/>
              </a:ext>
            </a:extLst>
          </p:cNvPr>
          <p:cNvSpPr/>
          <p:nvPr/>
        </p:nvSpPr>
        <p:spPr>
          <a:xfrm>
            <a:off x="301671" y="1910024"/>
            <a:ext cx="9550118" cy="26137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9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DE07ECF-D1A5-367A-40AB-CC5A3C107336}"/>
              </a:ext>
            </a:extLst>
          </p:cNvPr>
          <p:cNvSpPr/>
          <p:nvPr/>
        </p:nvSpPr>
        <p:spPr>
          <a:xfrm>
            <a:off x="301671" y="1910024"/>
            <a:ext cx="160844" cy="2613716"/>
          </a:xfrm>
          <a:prstGeom prst="rect">
            <a:avLst/>
          </a:prstGeom>
          <a:solidFill>
            <a:srgbClr val="3873EE"/>
          </a:solidFill>
          <a:ln w="12700">
            <a:solidFill>
              <a:srgbClr val="3873EE"/>
            </a:solidFill>
            <a:prstDash val="solid"/>
          </a:ln>
        </p:spPr>
        <p:txBody>
          <a:bodyPr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9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6B14D6-BEF2-74CD-4FD4-1F34FC9E2DF8}"/>
              </a:ext>
            </a:extLst>
          </p:cNvPr>
          <p:cNvSpPr/>
          <p:nvPr/>
        </p:nvSpPr>
        <p:spPr>
          <a:xfrm>
            <a:off x="603254" y="2070868"/>
            <a:ext cx="1005276" cy="70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19" b="1" i="0" u="none" strike="noStrike" kern="1200" cap="none" spc="0" normalizeH="0" baseline="0" noProof="0">
                <a:ln>
                  <a:noFill/>
                </a:ln>
                <a:solidFill>
                  <a:srgbClr val="3873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241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1769379-EDC1-121F-0C3D-30187097AFFA}"/>
              </a:ext>
            </a:extLst>
          </p:cNvPr>
          <p:cNvSpPr/>
          <p:nvPr/>
        </p:nvSpPr>
        <p:spPr>
          <a:xfrm>
            <a:off x="603254" y="2674033"/>
            <a:ext cx="9047480" cy="60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8" b="1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Alignment</a:t>
            </a:r>
            <a:endParaRPr kumimoji="0" lang="en-US" sz="28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AB1B822-372D-B68E-9385-37B4916B4229}"/>
              </a:ext>
            </a:extLst>
          </p:cNvPr>
          <p:cNvSpPr/>
          <p:nvPr/>
        </p:nvSpPr>
        <p:spPr>
          <a:xfrm>
            <a:off x="603254" y="3277198"/>
            <a:ext cx="9047480" cy="1105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89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Identify decision-makers at PZH, GovTechNL, and partner organisations. Define governance and ownership before development continues.</a:t>
            </a:r>
            <a:endParaRPr kumimoji="0" lang="en-US" sz="20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60A2373-91BA-D932-5C6D-C62F93F8D97C}"/>
              </a:ext>
            </a:extLst>
          </p:cNvPr>
          <p:cNvSpPr/>
          <p:nvPr/>
        </p:nvSpPr>
        <p:spPr>
          <a:xfrm>
            <a:off x="10253899" y="1910024"/>
            <a:ext cx="9550118" cy="26137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9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162E86C-2E63-7A88-0028-51EDF0651DB6}"/>
              </a:ext>
            </a:extLst>
          </p:cNvPr>
          <p:cNvSpPr/>
          <p:nvPr/>
        </p:nvSpPr>
        <p:spPr>
          <a:xfrm>
            <a:off x="10253899" y="1910024"/>
            <a:ext cx="160844" cy="2613716"/>
          </a:xfrm>
          <a:prstGeom prst="rect">
            <a:avLst/>
          </a:prstGeom>
          <a:solidFill>
            <a:schemeClr val="tx2"/>
          </a:solidFill>
          <a:ln w="12700">
            <a:solidFill>
              <a:srgbClr val="00C9D2"/>
            </a:solidFill>
            <a:prstDash val="solid"/>
          </a:ln>
        </p:spPr>
        <p:txBody>
          <a:bodyPr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9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5B39A8D-F893-E2A7-A584-E723A2629A3E}"/>
              </a:ext>
            </a:extLst>
          </p:cNvPr>
          <p:cNvSpPr/>
          <p:nvPr/>
        </p:nvSpPr>
        <p:spPr>
          <a:xfrm>
            <a:off x="10555482" y="2070868"/>
            <a:ext cx="1005276" cy="70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19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2419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4766E18-093F-3B87-5DBC-98644D41A8C1}"/>
              </a:ext>
            </a:extLst>
          </p:cNvPr>
          <p:cNvSpPr/>
          <p:nvPr/>
        </p:nvSpPr>
        <p:spPr>
          <a:xfrm>
            <a:off x="10555482" y="2674033"/>
            <a:ext cx="9047480" cy="60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8" b="1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What's Needed</a:t>
            </a:r>
            <a:endParaRPr kumimoji="0" lang="en-US" sz="28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3C669C2-E1C9-F4C6-5F7B-4C32BBA46BA5}"/>
              </a:ext>
            </a:extLst>
          </p:cNvPr>
          <p:cNvSpPr/>
          <p:nvPr/>
        </p:nvSpPr>
        <p:spPr>
          <a:xfrm>
            <a:off x="10555482" y="3277198"/>
            <a:ext cx="9047480" cy="1105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89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Map resource requirements: data access, cloud infra, capacity, legal (Woo/AVG), and open source maintenance responsibilities.</a:t>
            </a:r>
            <a:endParaRPr kumimoji="0" lang="en-US" sz="20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D16BB7B-7373-81FD-285E-50538B18147F}"/>
              </a:ext>
            </a:extLst>
          </p:cNvPr>
          <p:cNvSpPr/>
          <p:nvPr/>
        </p:nvSpPr>
        <p:spPr>
          <a:xfrm>
            <a:off x="301671" y="4925850"/>
            <a:ext cx="9550118" cy="26137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9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0C9711F-FD91-8AB6-7046-31D282E89B0A}"/>
              </a:ext>
            </a:extLst>
          </p:cNvPr>
          <p:cNvSpPr/>
          <p:nvPr/>
        </p:nvSpPr>
        <p:spPr>
          <a:xfrm>
            <a:off x="301671" y="4925850"/>
            <a:ext cx="160844" cy="2613716"/>
          </a:xfrm>
          <a:prstGeom prst="rect">
            <a:avLst/>
          </a:prstGeom>
          <a:solidFill>
            <a:srgbClr val="3873EE"/>
          </a:solidFill>
          <a:ln w="12700">
            <a:solidFill>
              <a:srgbClr val="3873EE"/>
            </a:solidFill>
            <a:prstDash val="solid"/>
          </a:ln>
        </p:spPr>
        <p:txBody>
          <a:bodyPr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9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26E66EA-6331-5A22-7CAA-C92922DCDCFF}"/>
              </a:ext>
            </a:extLst>
          </p:cNvPr>
          <p:cNvSpPr/>
          <p:nvPr/>
        </p:nvSpPr>
        <p:spPr>
          <a:xfrm>
            <a:off x="603254" y="5086694"/>
            <a:ext cx="1005276" cy="70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19" b="1" i="0" u="none" strike="noStrike" kern="1200" cap="none" spc="0" normalizeH="0" baseline="0" noProof="0">
                <a:ln>
                  <a:noFill/>
                </a:ln>
                <a:solidFill>
                  <a:srgbClr val="3873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241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CA10EED-28AD-D3B3-983D-2FDBA483E1F9}"/>
              </a:ext>
            </a:extLst>
          </p:cNvPr>
          <p:cNvSpPr/>
          <p:nvPr/>
        </p:nvSpPr>
        <p:spPr>
          <a:xfrm>
            <a:off x="603254" y="5689860"/>
            <a:ext cx="9047480" cy="60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8" b="1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Risks</a:t>
            </a:r>
            <a:endParaRPr kumimoji="0" lang="en-US" sz="28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34206C6-AC22-C294-8035-FE27E7D4890E}"/>
              </a:ext>
            </a:extLst>
          </p:cNvPr>
          <p:cNvSpPr/>
          <p:nvPr/>
        </p:nvSpPr>
        <p:spPr>
          <a:xfrm>
            <a:off x="603254" y="6293025"/>
            <a:ext cx="9047480" cy="1105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89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Document key assumptions made during the hackathon. Identify data gaps, model limitations, and regulatory constraints to address.</a:t>
            </a:r>
            <a:endParaRPr kumimoji="0" lang="en-US" sz="20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2C5F360-AF6F-05D4-50BF-F22DDBD91C18}"/>
              </a:ext>
            </a:extLst>
          </p:cNvPr>
          <p:cNvSpPr/>
          <p:nvPr/>
        </p:nvSpPr>
        <p:spPr>
          <a:xfrm>
            <a:off x="10253899" y="4925850"/>
            <a:ext cx="9550118" cy="26137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9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2F228C2E-E1A5-7D7E-F1E4-B8392EF8ADE0}"/>
              </a:ext>
            </a:extLst>
          </p:cNvPr>
          <p:cNvSpPr/>
          <p:nvPr/>
        </p:nvSpPr>
        <p:spPr>
          <a:xfrm>
            <a:off x="10253899" y="4925850"/>
            <a:ext cx="160844" cy="2613716"/>
          </a:xfrm>
          <a:prstGeom prst="rect">
            <a:avLst/>
          </a:prstGeom>
          <a:solidFill>
            <a:schemeClr val="tx2"/>
          </a:solidFill>
          <a:ln w="12700">
            <a:solidFill>
              <a:srgbClr val="00C9D2"/>
            </a:solidFill>
            <a:prstDash val="solid"/>
          </a:ln>
        </p:spPr>
        <p:txBody>
          <a:bodyPr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9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27B7C60-ACEF-68E8-5D3A-02275C4A6E36}"/>
              </a:ext>
            </a:extLst>
          </p:cNvPr>
          <p:cNvSpPr/>
          <p:nvPr/>
        </p:nvSpPr>
        <p:spPr>
          <a:xfrm>
            <a:off x="10555482" y="5086694"/>
            <a:ext cx="1005276" cy="70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19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2419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5D9354A-FB75-C64B-DA99-8303B1195411}"/>
              </a:ext>
            </a:extLst>
          </p:cNvPr>
          <p:cNvSpPr/>
          <p:nvPr/>
        </p:nvSpPr>
        <p:spPr>
          <a:xfrm>
            <a:off x="10555482" y="5689860"/>
            <a:ext cx="9047480" cy="60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8" b="1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kumimoji="0" lang="en-US" sz="28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05E8134-03BB-B808-6410-88225F5D64E0}"/>
              </a:ext>
            </a:extLst>
          </p:cNvPr>
          <p:cNvSpPr/>
          <p:nvPr/>
        </p:nvSpPr>
        <p:spPr>
          <a:xfrm>
            <a:off x="10555482" y="6293025"/>
            <a:ext cx="9047480" cy="1105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89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 outputs with domain experts (waterschap, PZH beleidsmakers). Verify data sources, model logic, and interpretability.</a:t>
            </a:r>
            <a:endParaRPr kumimoji="0" lang="en-US" sz="20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E7E8995-9E61-A82B-0E24-7865299E26DD}"/>
              </a:ext>
            </a:extLst>
          </p:cNvPr>
          <p:cNvSpPr/>
          <p:nvPr/>
        </p:nvSpPr>
        <p:spPr>
          <a:xfrm>
            <a:off x="301671" y="7941677"/>
            <a:ext cx="9550118" cy="26137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9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442F034-92EC-A970-6F43-7336B3E58555}"/>
              </a:ext>
            </a:extLst>
          </p:cNvPr>
          <p:cNvSpPr/>
          <p:nvPr/>
        </p:nvSpPr>
        <p:spPr>
          <a:xfrm>
            <a:off x="301671" y="7941677"/>
            <a:ext cx="160844" cy="2613716"/>
          </a:xfrm>
          <a:prstGeom prst="rect">
            <a:avLst/>
          </a:prstGeom>
          <a:solidFill>
            <a:srgbClr val="3873EE"/>
          </a:solidFill>
          <a:ln w="12700">
            <a:solidFill>
              <a:srgbClr val="3873EE"/>
            </a:solidFill>
            <a:prstDash val="solid"/>
          </a:ln>
        </p:spPr>
        <p:txBody>
          <a:bodyPr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9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3342108-8668-B758-BE7E-D223F2BFE174}"/>
              </a:ext>
            </a:extLst>
          </p:cNvPr>
          <p:cNvSpPr/>
          <p:nvPr/>
        </p:nvSpPr>
        <p:spPr>
          <a:xfrm>
            <a:off x="603254" y="8102521"/>
            <a:ext cx="1005276" cy="70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19" b="1" i="0" u="none" strike="noStrike" kern="1200" cap="none" spc="0" normalizeH="0" baseline="0" noProof="0">
                <a:ln>
                  <a:noFill/>
                </a:ln>
                <a:solidFill>
                  <a:srgbClr val="3873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kumimoji="0" lang="en-US" sz="241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76332A0-6FC1-55E1-FDAF-0903FE2E520E}"/>
              </a:ext>
            </a:extLst>
          </p:cNvPr>
          <p:cNvSpPr/>
          <p:nvPr/>
        </p:nvSpPr>
        <p:spPr>
          <a:xfrm>
            <a:off x="603254" y="8705686"/>
            <a:ext cx="9047480" cy="60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8" b="1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Minimal Viable Product</a:t>
            </a:r>
            <a:endParaRPr kumimoji="0" lang="en-US" sz="28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2748588-7C57-6393-9B62-40D81D26D3D4}"/>
              </a:ext>
            </a:extLst>
          </p:cNvPr>
          <p:cNvSpPr/>
          <p:nvPr/>
        </p:nvSpPr>
        <p:spPr>
          <a:xfrm>
            <a:off x="603254" y="9308852"/>
            <a:ext cx="9047480" cy="1105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89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Define MVP scope: which scenarios, which datasets, which user interactions. Separate core from nice-to-have features.</a:t>
            </a:r>
            <a:endParaRPr kumimoji="0" lang="en-US" sz="20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D7B13A1A-4412-C4A9-ABD7-0AD5B60F7DB1}"/>
              </a:ext>
            </a:extLst>
          </p:cNvPr>
          <p:cNvSpPr/>
          <p:nvPr/>
        </p:nvSpPr>
        <p:spPr>
          <a:xfrm>
            <a:off x="10253899" y="7941677"/>
            <a:ext cx="9550118" cy="26137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9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D6B7A891-C212-7080-A352-26D66E1B0B79}"/>
              </a:ext>
            </a:extLst>
          </p:cNvPr>
          <p:cNvSpPr/>
          <p:nvPr/>
        </p:nvSpPr>
        <p:spPr>
          <a:xfrm>
            <a:off x="10253899" y="7941677"/>
            <a:ext cx="160844" cy="2613716"/>
          </a:xfrm>
          <a:prstGeom prst="rect">
            <a:avLst/>
          </a:prstGeom>
          <a:solidFill>
            <a:schemeClr val="tx2"/>
          </a:solidFill>
          <a:ln w="12700">
            <a:solidFill>
              <a:srgbClr val="00C9D2"/>
            </a:solidFill>
            <a:prstDash val="solid"/>
          </a:ln>
        </p:spPr>
        <p:txBody>
          <a:bodyPr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9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B3D6853-792F-71C3-4939-F34699EDFC10}"/>
              </a:ext>
            </a:extLst>
          </p:cNvPr>
          <p:cNvSpPr/>
          <p:nvPr/>
        </p:nvSpPr>
        <p:spPr>
          <a:xfrm>
            <a:off x="10555482" y="8102521"/>
            <a:ext cx="1005276" cy="70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19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kumimoji="0" lang="en-US" sz="2419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BAFA18A-F320-F646-8A79-D5E6E5BBA5D8}"/>
              </a:ext>
            </a:extLst>
          </p:cNvPr>
          <p:cNvSpPr/>
          <p:nvPr/>
        </p:nvSpPr>
        <p:spPr>
          <a:xfrm>
            <a:off x="10555482" y="8705686"/>
            <a:ext cx="9047480" cy="60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8" b="1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Timeline</a:t>
            </a:r>
            <a:endParaRPr kumimoji="0" lang="en-US" sz="28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B39429CA-501C-E6E6-A310-3E962F64FFF8}"/>
              </a:ext>
            </a:extLst>
          </p:cNvPr>
          <p:cNvSpPr/>
          <p:nvPr/>
        </p:nvSpPr>
        <p:spPr>
          <a:xfrm>
            <a:off x="10555482" y="9308852"/>
            <a:ext cx="9047480" cy="1105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89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Phase the work from validated PoC to production-ready tool. Set milestones, assign ownership, and agree on a review cadence.</a:t>
            </a:r>
            <a:endParaRPr kumimoji="0" lang="en-US" sz="20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1753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084EF5-01DB-9FA5-C762-7FF9C828F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4D872F4-B285-472B-FFE0-209955CB2A81}"/>
              </a:ext>
            </a:extLst>
          </p:cNvPr>
          <p:cNvSpPr/>
          <p:nvPr/>
        </p:nvSpPr>
        <p:spPr>
          <a:xfrm>
            <a:off x="89" y="0"/>
            <a:ext cx="20105511" cy="1507913"/>
          </a:xfrm>
          <a:prstGeom prst="rect">
            <a:avLst/>
          </a:prstGeom>
          <a:solidFill>
            <a:srgbClr val="3873EE"/>
          </a:solidFill>
          <a:ln w="12700">
            <a:solidFill>
              <a:srgbClr val="3873EE"/>
            </a:solidFill>
            <a:prstDash val="solid"/>
          </a:ln>
        </p:spPr>
        <p:txBody>
          <a:bodyPr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9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48717F-73A1-7073-5FEE-F5B94B336365}"/>
              </a:ext>
            </a:extLst>
          </p:cNvPr>
          <p:cNvSpPr/>
          <p:nvPr/>
        </p:nvSpPr>
        <p:spPr>
          <a:xfrm>
            <a:off x="603254" y="0"/>
            <a:ext cx="18094960" cy="1507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78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OVERVIEW</a:t>
            </a:r>
            <a:endParaRPr kumimoji="0" lang="en-US" sz="307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F517EF2-CDB4-8945-8B58-E55B4FF59639}"/>
              </a:ext>
            </a:extLst>
          </p:cNvPr>
          <p:cNvSpPr/>
          <p:nvPr/>
        </p:nvSpPr>
        <p:spPr>
          <a:xfrm>
            <a:off x="301671" y="1910024"/>
            <a:ext cx="9550118" cy="26137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9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127B355-7D53-5254-3F25-25713C249FF9}"/>
              </a:ext>
            </a:extLst>
          </p:cNvPr>
          <p:cNvSpPr/>
          <p:nvPr/>
        </p:nvSpPr>
        <p:spPr>
          <a:xfrm>
            <a:off x="301671" y="1910024"/>
            <a:ext cx="160844" cy="2613716"/>
          </a:xfrm>
          <a:prstGeom prst="rect">
            <a:avLst/>
          </a:prstGeom>
          <a:solidFill>
            <a:srgbClr val="3873EE"/>
          </a:solidFill>
          <a:ln w="12700">
            <a:solidFill>
              <a:srgbClr val="3873EE"/>
            </a:solidFill>
            <a:prstDash val="solid"/>
          </a:ln>
        </p:spPr>
        <p:txBody>
          <a:bodyPr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9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93E5B2C-661C-5D1C-2692-20E617B336F0}"/>
              </a:ext>
            </a:extLst>
          </p:cNvPr>
          <p:cNvSpPr/>
          <p:nvPr/>
        </p:nvSpPr>
        <p:spPr>
          <a:xfrm>
            <a:off x="603254" y="2070868"/>
            <a:ext cx="1005276" cy="70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19" b="1" i="0" u="none" strike="noStrike" kern="1200" cap="none" spc="0" normalizeH="0" baseline="0" noProof="0">
                <a:ln>
                  <a:noFill/>
                </a:ln>
                <a:solidFill>
                  <a:srgbClr val="3873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241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0081FE2-0FC6-ACC1-472B-65FA3E1B4EED}"/>
              </a:ext>
            </a:extLst>
          </p:cNvPr>
          <p:cNvSpPr/>
          <p:nvPr/>
        </p:nvSpPr>
        <p:spPr>
          <a:xfrm>
            <a:off x="603254" y="2674033"/>
            <a:ext cx="9047480" cy="60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8" b="1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Alignment</a:t>
            </a:r>
            <a:endParaRPr kumimoji="0" lang="en-US" sz="28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1FA8DCC-6FEE-A101-0E19-D669F4185C43}"/>
              </a:ext>
            </a:extLst>
          </p:cNvPr>
          <p:cNvSpPr/>
          <p:nvPr/>
        </p:nvSpPr>
        <p:spPr>
          <a:xfrm>
            <a:off x="603254" y="3277198"/>
            <a:ext cx="9047480" cy="1105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89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Identify decision-makers at PZH, GovTechNL, and partner organisations. Define governance and ownership before development continues.</a:t>
            </a:r>
            <a:endParaRPr kumimoji="0" lang="en-US" sz="20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AAEE829-7C15-D25A-0E86-723FB98FAE59}"/>
              </a:ext>
            </a:extLst>
          </p:cNvPr>
          <p:cNvSpPr/>
          <p:nvPr/>
        </p:nvSpPr>
        <p:spPr>
          <a:xfrm>
            <a:off x="10253899" y="1910024"/>
            <a:ext cx="9550118" cy="26137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9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BE3DD3C-F252-D0F3-C5A6-53AF5329524A}"/>
              </a:ext>
            </a:extLst>
          </p:cNvPr>
          <p:cNvSpPr/>
          <p:nvPr/>
        </p:nvSpPr>
        <p:spPr>
          <a:xfrm>
            <a:off x="10253899" y="1910024"/>
            <a:ext cx="160844" cy="2613716"/>
          </a:xfrm>
          <a:prstGeom prst="rect">
            <a:avLst/>
          </a:prstGeom>
          <a:solidFill>
            <a:srgbClr val="00C9D2"/>
          </a:solidFill>
          <a:ln w="12700">
            <a:solidFill>
              <a:srgbClr val="00C9D2"/>
            </a:solidFill>
            <a:prstDash val="solid"/>
          </a:ln>
        </p:spPr>
        <p:txBody>
          <a:bodyPr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9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F7DC617-AB8A-6FFA-0547-911D32025101}"/>
              </a:ext>
            </a:extLst>
          </p:cNvPr>
          <p:cNvSpPr/>
          <p:nvPr/>
        </p:nvSpPr>
        <p:spPr>
          <a:xfrm>
            <a:off x="10555482" y="2070868"/>
            <a:ext cx="1005276" cy="70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19" b="1" i="0" u="none" strike="noStrike" kern="1200" cap="none" spc="0" normalizeH="0" baseline="0" noProof="0">
                <a:ln>
                  <a:noFill/>
                </a:ln>
                <a:solidFill>
                  <a:srgbClr val="00C9D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241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FDA66E6-80E8-0827-F0B3-3C34F3C58ED6}"/>
              </a:ext>
            </a:extLst>
          </p:cNvPr>
          <p:cNvSpPr/>
          <p:nvPr/>
        </p:nvSpPr>
        <p:spPr>
          <a:xfrm>
            <a:off x="10555482" y="2674033"/>
            <a:ext cx="9047480" cy="60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8" b="1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What's Needed</a:t>
            </a:r>
            <a:endParaRPr kumimoji="0" lang="en-US" sz="28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B7DD48B-6558-5127-EF78-FB1AC61F1036}"/>
              </a:ext>
            </a:extLst>
          </p:cNvPr>
          <p:cNvSpPr/>
          <p:nvPr/>
        </p:nvSpPr>
        <p:spPr>
          <a:xfrm>
            <a:off x="10555482" y="3277198"/>
            <a:ext cx="9047480" cy="1105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89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Map resource requirements: data access, cloud infra, capacity, legal (Woo/AVG), and open source maintenance responsibilities.</a:t>
            </a:r>
            <a:endParaRPr kumimoji="0" lang="en-US" sz="20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0B3D9B1-5853-1024-B3D5-E6E86B355F72}"/>
              </a:ext>
            </a:extLst>
          </p:cNvPr>
          <p:cNvSpPr/>
          <p:nvPr/>
        </p:nvSpPr>
        <p:spPr>
          <a:xfrm>
            <a:off x="301671" y="4925850"/>
            <a:ext cx="9550118" cy="26137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9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A8D47AC-F60D-9D2F-DED6-19DF846BA55D}"/>
              </a:ext>
            </a:extLst>
          </p:cNvPr>
          <p:cNvSpPr/>
          <p:nvPr/>
        </p:nvSpPr>
        <p:spPr>
          <a:xfrm>
            <a:off x="301671" y="4925850"/>
            <a:ext cx="160844" cy="2613716"/>
          </a:xfrm>
          <a:prstGeom prst="rect">
            <a:avLst/>
          </a:prstGeom>
          <a:solidFill>
            <a:srgbClr val="3873EE"/>
          </a:solidFill>
          <a:ln w="12700">
            <a:solidFill>
              <a:srgbClr val="3873EE"/>
            </a:solidFill>
            <a:prstDash val="solid"/>
          </a:ln>
        </p:spPr>
        <p:txBody>
          <a:bodyPr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9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995D23C-7CE7-1EF7-2A26-E023D382F6D0}"/>
              </a:ext>
            </a:extLst>
          </p:cNvPr>
          <p:cNvSpPr/>
          <p:nvPr/>
        </p:nvSpPr>
        <p:spPr>
          <a:xfrm>
            <a:off x="603254" y="5086694"/>
            <a:ext cx="1005276" cy="70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19" b="1" i="0" u="none" strike="noStrike" kern="1200" cap="none" spc="0" normalizeH="0" baseline="0" noProof="0">
                <a:ln>
                  <a:noFill/>
                </a:ln>
                <a:solidFill>
                  <a:srgbClr val="3873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241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4E2C02D-49E3-CCE0-D63A-392B884FB4CE}"/>
              </a:ext>
            </a:extLst>
          </p:cNvPr>
          <p:cNvSpPr/>
          <p:nvPr/>
        </p:nvSpPr>
        <p:spPr>
          <a:xfrm>
            <a:off x="603254" y="5689860"/>
            <a:ext cx="9047480" cy="60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8" b="1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Risks</a:t>
            </a:r>
            <a:endParaRPr kumimoji="0" lang="en-US" sz="28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75EAD0D-9941-3C81-5407-B2DA17A214E9}"/>
              </a:ext>
            </a:extLst>
          </p:cNvPr>
          <p:cNvSpPr/>
          <p:nvPr/>
        </p:nvSpPr>
        <p:spPr>
          <a:xfrm>
            <a:off x="603254" y="6293025"/>
            <a:ext cx="9047480" cy="1105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89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Document key assumptions made during the hackathon. Identify data gaps, model limitations, and regulatory constraints to address.</a:t>
            </a:r>
            <a:endParaRPr kumimoji="0" lang="en-US" sz="20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B82C007-34C7-F87A-8957-2757C265F018}"/>
              </a:ext>
            </a:extLst>
          </p:cNvPr>
          <p:cNvSpPr/>
          <p:nvPr/>
        </p:nvSpPr>
        <p:spPr>
          <a:xfrm>
            <a:off x="10253899" y="4925850"/>
            <a:ext cx="9550118" cy="26137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9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2A4E2BF-1954-8EED-95E1-612DC9CC3B74}"/>
              </a:ext>
            </a:extLst>
          </p:cNvPr>
          <p:cNvSpPr/>
          <p:nvPr/>
        </p:nvSpPr>
        <p:spPr>
          <a:xfrm>
            <a:off x="10253899" y="4925850"/>
            <a:ext cx="160844" cy="2613716"/>
          </a:xfrm>
          <a:prstGeom prst="rect">
            <a:avLst/>
          </a:prstGeom>
          <a:solidFill>
            <a:srgbClr val="00C9D2"/>
          </a:solidFill>
          <a:ln w="12700">
            <a:solidFill>
              <a:srgbClr val="00C9D2"/>
            </a:solidFill>
            <a:prstDash val="solid"/>
          </a:ln>
        </p:spPr>
        <p:txBody>
          <a:bodyPr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9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18C5A71-8B36-51F4-32AC-943DD0578404}"/>
              </a:ext>
            </a:extLst>
          </p:cNvPr>
          <p:cNvSpPr/>
          <p:nvPr/>
        </p:nvSpPr>
        <p:spPr>
          <a:xfrm>
            <a:off x="10555482" y="5086694"/>
            <a:ext cx="1005276" cy="70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19" b="1" i="0" u="none" strike="noStrike" kern="1200" cap="none" spc="0" normalizeH="0" baseline="0" noProof="0">
                <a:ln>
                  <a:noFill/>
                </a:ln>
                <a:solidFill>
                  <a:srgbClr val="00C9D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241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2BE0EF2-ED23-E82D-65F1-69EA1EC041E3}"/>
              </a:ext>
            </a:extLst>
          </p:cNvPr>
          <p:cNvSpPr/>
          <p:nvPr/>
        </p:nvSpPr>
        <p:spPr>
          <a:xfrm>
            <a:off x="10555482" y="5689860"/>
            <a:ext cx="9047480" cy="60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8" b="1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kumimoji="0" lang="en-US" sz="28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EFB8214-B5C9-A09A-2403-F3B5E7D8EA09}"/>
              </a:ext>
            </a:extLst>
          </p:cNvPr>
          <p:cNvSpPr/>
          <p:nvPr/>
        </p:nvSpPr>
        <p:spPr>
          <a:xfrm>
            <a:off x="10555482" y="6293025"/>
            <a:ext cx="9047480" cy="1105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89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 outputs with domain experts (waterschap, PZH beleidsmakers). Verify data sources, model logic, and interpretability.</a:t>
            </a:r>
            <a:endParaRPr kumimoji="0" lang="en-US" sz="20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5A5A0F6-4091-1728-30A5-08FAC1651892}"/>
              </a:ext>
            </a:extLst>
          </p:cNvPr>
          <p:cNvSpPr/>
          <p:nvPr/>
        </p:nvSpPr>
        <p:spPr>
          <a:xfrm>
            <a:off x="301671" y="7941677"/>
            <a:ext cx="9550118" cy="26137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9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9ACFFE1-D942-C062-1348-8D824C17C4EC}"/>
              </a:ext>
            </a:extLst>
          </p:cNvPr>
          <p:cNvSpPr/>
          <p:nvPr/>
        </p:nvSpPr>
        <p:spPr>
          <a:xfrm>
            <a:off x="301671" y="7941677"/>
            <a:ext cx="160844" cy="2613716"/>
          </a:xfrm>
          <a:prstGeom prst="rect">
            <a:avLst/>
          </a:prstGeom>
          <a:solidFill>
            <a:srgbClr val="3873EE"/>
          </a:solidFill>
          <a:ln w="12700">
            <a:solidFill>
              <a:srgbClr val="3873EE"/>
            </a:solidFill>
            <a:prstDash val="solid"/>
          </a:ln>
        </p:spPr>
        <p:txBody>
          <a:bodyPr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9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8780478-57BC-2551-8D30-3C0B6AFA4B3D}"/>
              </a:ext>
            </a:extLst>
          </p:cNvPr>
          <p:cNvSpPr/>
          <p:nvPr/>
        </p:nvSpPr>
        <p:spPr>
          <a:xfrm>
            <a:off x="603254" y="8102521"/>
            <a:ext cx="1005276" cy="70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19" b="1" i="0" u="none" strike="noStrike" kern="1200" cap="none" spc="0" normalizeH="0" baseline="0" noProof="0">
                <a:ln>
                  <a:noFill/>
                </a:ln>
                <a:solidFill>
                  <a:srgbClr val="3873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kumimoji="0" lang="en-US" sz="241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608C068-29A6-2D45-DC00-6F12215CDBE5}"/>
              </a:ext>
            </a:extLst>
          </p:cNvPr>
          <p:cNvSpPr/>
          <p:nvPr/>
        </p:nvSpPr>
        <p:spPr>
          <a:xfrm>
            <a:off x="603254" y="8705686"/>
            <a:ext cx="9047480" cy="60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8" b="1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Minimal Viable Product</a:t>
            </a:r>
            <a:endParaRPr kumimoji="0" lang="en-US" sz="28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0EC6355-6062-DA0F-EC33-BB886CCEBD23}"/>
              </a:ext>
            </a:extLst>
          </p:cNvPr>
          <p:cNvSpPr/>
          <p:nvPr/>
        </p:nvSpPr>
        <p:spPr>
          <a:xfrm>
            <a:off x="603254" y="9308852"/>
            <a:ext cx="9047480" cy="1105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89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Define MVP scope: which scenarios, which datasets, which user interactions. Separate core from nice-to-have features.</a:t>
            </a:r>
            <a:endParaRPr kumimoji="0" lang="en-US" sz="20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FC15D15A-2CE7-20FC-3947-9302955FFE4C}"/>
              </a:ext>
            </a:extLst>
          </p:cNvPr>
          <p:cNvSpPr/>
          <p:nvPr/>
        </p:nvSpPr>
        <p:spPr>
          <a:xfrm>
            <a:off x="10253899" y="7941677"/>
            <a:ext cx="9550118" cy="26137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9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DF0A426-CAB5-8338-2BCA-85A2959D067D}"/>
              </a:ext>
            </a:extLst>
          </p:cNvPr>
          <p:cNvSpPr/>
          <p:nvPr/>
        </p:nvSpPr>
        <p:spPr>
          <a:xfrm>
            <a:off x="10253899" y="7941677"/>
            <a:ext cx="160844" cy="2613716"/>
          </a:xfrm>
          <a:prstGeom prst="rect">
            <a:avLst/>
          </a:prstGeom>
          <a:solidFill>
            <a:srgbClr val="00C9D2"/>
          </a:solidFill>
          <a:ln w="12700">
            <a:solidFill>
              <a:srgbClr val="00C9D2"/>
            </a:solidFill>
            <a:prstDash val="solid"/>
          </a:ln>
        </p:spPr>
        <p:txBody>
          <a:bodyPr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L" sz="39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9E34A0A-69F0-2FF7-637A-28234DF1D806}"/>
              </a:ext>
            </a:extLst>
          </p:cNvPr>
          <p:cNvSpPr/>
          <p:nvPr/>
        </p:nvSpPr>
        <p:spPr>
          <a:xfrm>
            <a:off x="10555482" y="8102521"/>
            <a:ext cx="1005276" cy="70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19" b="1" i="0" u="none" strike="noStrike" kern="1200" cap="none" spc="0" normalizeH="0" baseline="0" noProof="0">
                <a:ln>
                  <a:noFill/>
                </a:ln>
                <a:solidFill>
                  <a:srgbClr val="00C9D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kumimoji="0" lang="en-US" sz="241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A8CD8DA3-3D04-5422-2C93-AB7DDD3F2519}"/>
              </a:ext>
            </a:extLst>
          </p:cNvPr>
          <p:cNvSpPr/>
          <p:nvPr/>
        </p:nvSpPr>
        <p:spPr>
          <a:xfrm>
            <a:off x="10555482" y="8705686"/>
            <a:ext cx="9047480" cy="60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8" b="1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Timeline</a:t>
            </a:r>
            <a:endParaRPr kumimoji="0" lang="en-US" sz="285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468C6DA-A2A8-D39F-3250-992E37199BFB}"/>
              </a:ext>
            </a:extLst>
          </p:cNvPr>
          <p:cNvSpPr/>
          <p:nvPr/>
        </p:nvSpPr>
        <p:spPr>
          <a:xfrm>
            <a:off x="10555482" y="9308852"/>
            <a:ext cx="9047480" cy="1105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2010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89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Phase the work from validated PoC to production-ready tool. Set milestones, assign ownership, and agree on a review cadence.</a:t>
            </a:r>
            <a:endParaRPr kumimoji="0" lang="en-US" sz="208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2244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9405D-2BF3-0474-FCB3-D431426AC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CF6B6162-1D71-0C16-18D6-15313AE7AD8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35" y="4800"/>
            <a:ext cx="20095215" cy="11298966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CED04F5F-C74A-14EF-26BF-FBD1FF78C515}"/>
              </a:ext>
            </a:extLst>
          </p:cNvPr>
          <p:cNvSpPr>
            <a:spLocks/>
          </p:cNvSpPr>
          <p:nvPr/>
        </p:nvSpPr>
        <p:spPr>
          <a:xfrm>
            <a:off x="5235" y="4789"/>
            <a:ext cx="20095527" cy="11299447"/>
          </a:xfrm>
          <a:custGeom>
            <a:avLst/>
            <a:gdLst/>
            <a:ahLst/>
            <a:cxnLst/>
            <a:rect l="l" t="t" r="r" b="b"/>
            <a:pathLst>
              <a:path w="20093940" h="11298555">
                <a:moveTo>
                  <a:pt x="0" y="11298085"/>
                </a:moveTo>
                <a:lnTo>
                  <a:pt x="20093629" y="11298085"/>
                </a:lnTo>
                <a:lnTo>
                  <a:pt x="20093629" y="0"/>
                </a:lnTo>
                <a:lnTo>
                  <a:pt x="0" y="0"/>
                </a:lnTo>
                <a:lnTo>
                  <a:pt x="0" y="11298085"/>
                </a:lnTo>
                <a:close/>
              </a:path>
            </a:pathLst>
          </a:custGeom>
          <a:ln w="10470">
            <a:solidFill>
              <a:srgbClr val="2A253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1C3578DA-1483-3FFF-DD82-766312BF9FEC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54077" y="0"/>
            <a:ext cx="14651611" cy="113094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8F296C-0B93-DC55-F0B3-7675D4283E76}"/>
              </a:ext>
            </a:extLst>
          </p:cNvPr>
          <p:cNvSpPr txBox="1"/>
          <p:nvPr/>
        </p:nvSpPr>
        <p:spPr>
          <a:xfrm>
            <a:off x="6400800" y="4977815"/>
            <a:ext cx="120199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8000" b="1">
                <a:solidFill>
                  <a:schemeClr val="bg1"/>
                </a:solidFill>
              </a:rPr>
              <a:t>LINK WATERS</a:t>
            </a:r>
          </a:p>
        </p:txBody>
      </p:sp>
    </p:spTree>
    <p:extLst>
      <p:ext uri="{BB962C8B-B14F-4D97-AF65-F5344CB8AC3E}">
        <p14:creationId xmlns:p14="http://schemas.microsoft.com/office/powerpoint/2010/main" val="2590705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" y="0"/>
            <a:ext cx="361899" cy="1130935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079222" y="0"/>
            <a:ext cx="5026378" cy="2412661"/>
          </a:xfrm>
          <a:prstGeom prst="rect">
            <a:avLst/>
          </a:prstGeom>
          <a:solidFill>
            <a:srgbClr val="3873EE"/>
          </a:solidFill>
          <a:ln w="12700">
            <a:solidFill>
              <a:srgbClr val="3873EE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6486608" y="8444315"/>
            <a:ext cx="3618992" cy="2865035"/>
          </a:xfrm>
          <a:prstGeom prst="rect">
            <a:avLst/>
          </a:prstGeom>
          <a:solidFill>
            <a:srgbClr val="00C9D2"/>
          </a:solidFill>
          <a:ln w="12700">
            <a:solidFill>
              <a:srgbClr val="00C9D2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05364" y="3015827"/>
            <a:ext cx="14073858" cy="2010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8795" b="1" kern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Next?</a:t>
            </a:r>
            <a:endParaRPr lang="en-US" sz="8795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05364" y="5227433"/>
            <a:ext cx="14073858" cy="1206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4398" kern="120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Hackathon Prototype to Policy Tool</a:t>
            </a:r>
            <a:endParaRPr lang="en-US" sz="439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05364" y="10052756"/>
            <a:ext cx="12063307" cy="804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419" kern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OneGov #2 · Provincie Zuid-Holland · June 2026</a:t>
            </a:r>
            <a:endParaRPr lang="en-US" sz="241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" y="0"/>
            <a:ext cx="20105511" cy="1507913"/>
          </a:xfrm>
          <a:prstGeom prst="rect">
            <a:avLst/>
          </a:prstGeom>
          <a:solidFill>
            <a:srgbClr val="3873EE"/>
          </a:solidFill>
          <a:ln w="12700">
            <a:solidFill>
              <a:srgbClr val="3873EE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3254" y="0"/>
            <a:ext cx="18094960" cy="1507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3078" b="1" kern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OVERVIEW</a:t>
            </a:r>
            <a:endParaRPr lang="en-US" sz="307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1671" y="1910024"/>
            <a:ext cx="9550118" cy="26137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01671" y="1910024"/>
            <a:ext cx="160844" cy="2613716"/>
          </a:xfrm>
          <a:prstGeom prst="rect">
            <a:avLst/>
          </a:prstGeom>
          <a:solidFill>
            <a:srgbClr val="3873EE"/>
          </a:solidFill>
          <a:ln w="12700">
            <a:solidFill>
              <a:srgbClr val="3873EE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3254" y="2070868"/>
            <a:ext cx="1005276" cy="70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419" b="1" kern="1200">
                <a:solidFill>
                  <a:srgbClr val="387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1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3254" y="2674033"/>
            <a:ext cx="9047480" cy="60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858" b="1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Alignment</a:t>
            </a:r>
            <a:endParaRPr lang="en-US" sz="28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3254" y="3277198"/>
            <a:ext cx="9047480" cy="1105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089" kern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decision-makers at PZH, GovTechNL, and partner organisations. Define governance and ownership before development continues.</a:t>
            </a:r>
            <a:endParaRPr lang="en-US" sz="208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253899" y="1910024"/>
            <a:ext cx="9550118" cy="26137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253899" y="1910024"/>
            <a:ext cx="160844" cy="2613716"/>
          </a:xfrm>
          <a:prstGeom prst="rect">
            <a:avLst/>
          </a:prstGeom>
          <a:solidFill>
            <a:srgbClr val="00C9D2"/>
          </a:solidFill>
          <a:ln w="12700">
            <a:solidFill>
              <a:srgbClr val="00C9D2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555482" y="2070868"/>
            <a:ext cx="1005276" cy="70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419" b="1" kern="1200">
                <a:solidFill>
                  <a:srgbClr val="00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1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555482" y="2674033"/>
            <a:ext cx="9047480" cy="60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858" b="1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Needed</a:t>
            </a:r>
            <a:endParaRPr lang="en-US" sz="28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555482" y="3277198"/>
            <a:ext cx="9047480" cy="1105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089" kern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resource requirements: data access, cloud infra, capacity, legal (Woo/AVG), and open source maintenance responsibilities.</a:t>
            </a:r>
            <a:endParaRPr lang="en-US" sz="208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01671" y="4925850"/>
            <a:ext cx="9550118" cy="26137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01671" y="4925850"/>
            <a:ext cx="160844" cy="2613716"/>
          </a:xfrm>
          <a:prstGeom prst="rect">
            <a:avLst/>
          </a:prstGeom>
          <a:solidFill>
            <a:srgbClr val="3873EE"/>
          </a:solidFill>
          <a:ln w="12700">
            <a:solidFill>
              <a:srgbClr val="3873EE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3254" y="5086694"/>
            <a:ext cx="1005276" cy="70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419" b="1" kern="1200">
                <a:solidFill>
                  <a:srgbClr val="387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1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3254" y="5689860"/>
            <a:ext cx="9047480" cy="60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858" b="1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Risks</a:t>
            </a:r>
            <a:endParaRPr lang="en-US" sz="28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3254" y="6293025"/>
            <a:ext cx="9047480" cy="1105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089" kern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key assumptions made during the hackathon. Identify data gaps, model limitations, and regulatory constraints to address.</a:t>
            </a:r>
            <a:endParaRPr lang="en-US" sz="208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253899" y="4925850"/>
            <a:ext cx="9550118" cy="26137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253899" y="4925850"/>
            <a:ext cx="160844" cy="2613716"/>
          </a:xfrm>
          <a:prstGeom prst="rect">
            <a:avLst/>
          </a:prstGeom>
          <a:solidFill>
            <a:srgbClr val="00C9D2"/>
          </a:solidFill>
          <a:ln w="12700">
            <a:solidFill>
              <a:srgbClr val="00C9D2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555482" y="5086694"/>
            <a:ext cx="1005276" cy="70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419" b="1" kern="1200">
                <a:solidFill>
                  <a:srgbClr val="00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1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555482" y="5689860"/>
            <a:ext cx="9047480" cy="60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858" b="1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28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555482" y="6293025"/>
            <a:ext cx="9047480" cy="1105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089" kern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 outputs with domain experts (waterschap, PZH beleidsmakers). Verify data sources, model logic, and interpretability.</a:t>
            </a:r>
            <a:endParaRPr lang="en-US" sz="208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01671" y="7941677"/>
            <a:ext cx="9550118" cy="26137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01671" y="7941677"/>
            <a:ext cx="160844" cy="2613716"/>
          </a:xfrm>
          <a:prstGeom prst="rect">
            <a:avLst/>
          </a:prstGeom>
          <a:solidFill>
            <a:srgbClr val="3873EE"/>
          </a:solidFill>
          <a:ln w="12700">
            <a:solidFill>
              <a:srgbClr val="3873EE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03254" y="8102521"/>
            <a:ext cx="1005276" cy="70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419" b="1" kern="1200">
                <a:solidFill>
                  <a:srgbClr val="387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1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03254" y="8705686"/>
            <a:ext cx="9047480" cy="60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858" b="1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Viable Product</a:t>
            </a:r>
            <a:endParaRPr lang="en-US" sz="28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03254" y="9308852"/>
            <a:ext cx="9047480" cy="1105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089" kern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MVP scope: which scenarios, which datasets, which user interactions. Separate core from nice-to-have features.</a:t>
            </a:r>
            <a:endParaRPr lang="en-US" sz="208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0253899" y="7941677"/>
            <a:ext cx="9550118" cy="26137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0253899" y="7941677"/>
            <a:ext cx="160844" cy="2613716"/>
          </a:xfrm>
          <a:prstGeom prst="rect">
            <a:avLst/>
          </a:prstGeom>
          <a:solidFill>
            <a:srgbClr val="00C9D2"/>
          </a:solidFill>
          <a:ln w="12700">
            <a:solidFill>
              <a:srgbClr val="00C9D2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555482" y="8102521"/>
            <a:ext cx="1005276" cy="70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419" b="1" kern="1200">
                <a:solidFill>
                  <a:srgbClr val="00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1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555482" y="8705686"/>
            <a:ext cx="9047480" cy="60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858" b="1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Timeline</a:t>
            </a:r>
            <a:endParaRPr lang="en-US" sz="28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555482" y="9308852"/>
            <a:ext cx="9047480" cy="1105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089" kern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the work from validated PoC to production-ready tool. Set milestones, assign ownership, and agree on a review cadence.</a:t>
            </a:r>
            <a:endParaRPr lang="en-US" sz="208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01671" y="10696132"/>
            <a:ext cx="18094960" cy="50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1979" kern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OneGov #2 · Provincie Zuid-Holland</a:t>
            </a:r>
            <a:endParaRPr lang="en-US" sz="197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" y="0"/>
            <a:ext cx="20105511" cy="1507913"/>
          </a:xfrm>
          <a:prstGeom prst="rect">
            <a:avLst/>
          </a:prstGeom>
          <a:solidFill>
            <a:srgbClr val="3873EE"/>
          </a:solidFill>
          <a:ln w="12700">
            <a:solidFill>
              <a:srgbClr val="3873EE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3254" y="0"/>
            <a:ext cx="18094960" cy="1507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3078" b="1" kern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STAKEHOLDER ALIGNMENT</a:t>
            </a:r>
            <a:endParaRPr lang="en-US" sz="307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3254" y="1809496"/>
            <a:ext cx="18899180" cy="904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3078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to be involved before development continues?</a:t>
            </a:r>
            <a:endParaRPr lang="en-US" sz="307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603254" y="2915299"/>
          <a:ext cx="18899180" cy="5790390"/>
        </p:xfrm>
        <a:graphic>
          <a:graphicData uri="http://schemas.openxmlformats.org/drawingml/2006/table">
            <a:tbl>
              <a:tblPr/>
              <a:tblGrid>
                <a:gridCol w="5629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3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46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5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Party</a:t>
                      </a:r>
                      <a:endParaRPr lang="en-US" sz="2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7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2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7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/ Input needed</a:t>
                      </a:r>
                      <a:endParaRPr lang="en-US" sz="2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7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5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Provincie Zuid-Holland</a:t>
                      </a:r>
                      <a:endParaRPr lang="en-US" sz="2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 owner</a:t>
                      </a:r>
                      <a:endParaRPr lang="en-US" sz="2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[TBD]</a:t>
                      </a:r>
                      <a:endParaRPr lang="en-US" sz="2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GovTechNL</a:t>
                      </a:r>
                      <a:endParaRPr lang="en-US" sz="2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owner</a:t>
                      </a:r>
                      <a:endParaRPr lang="en-US" sz="2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[TBD]</a:t>
                      </a:r>
                      <a:endParaRPr lang="en-US" sz="2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5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Waterschap / Drinking water operator</a:t>
                      </a:r>
                      <a:endParaRPr lang="en-US" sz="2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expert</a:t>
                      </a:r>
                      <a:endParaRPr lang="en-US" sz="2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[TBD]</a:t>
                      </a:r>
                      <a:endParaRPr lang="en-US" sz="2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5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/ Legal (Woo / AVG)</a:t>
                      </a:r>
                      <a:endParaRPr lang="en-US" sz="2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2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[TBD]</a:t>
                      </a:r>
                      <a:endParaRPr lang="en-US" sz="2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5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[Add party]</a:t>
                      </a:r>
                      <a:endParaRPr lang="en-US" sz="2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[Role]</a:t>
                      </a:r>
                      <a:endParaRPr lang="en-US" sz="2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[TBD]</a:t>
                      </a:r>
                      <a:endParaRPr lang="en-US" sz="2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9" y="10454866"/>
            <a:ext cx="20105511" cy="854484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03254" y="10495077"/>
            <a:ext cx="18899180" cy="723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199" b="1" kern="1200">
                <a:solidFill>
                  <a:srgbClr val="387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Schedule alignment session within 2 weeks of hackathon  ·  Owner: [TBD]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" y="0"/>
            <a:ext cx="20105511" cy="1507913"/>
          </a:xfrm>
          <a:prstGeom prst="rect">
            <a:avLst/>
          </a:prstGeom>
          <a:solidFill>
            <a:srgbClr val="00C9D2"/>
          </a:solidFill>
          <a:ln w="12700">
            <a:solidFill>
              <a:srgbClr val="00C9D2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3254" y="0"/>
            <a:ext cx="18094960" cy="1507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3078" b="1" kern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WHAT'S NEEDED</a:t>
            </a:r>
            <a:endParaRPr lang="en-US" sz="307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3254" y="1910024"/>
            <a:ext cx="9248535" cy="3417937"/>
          </a:xfrm>
          <a:prstGeom prst="rect">
            <a:avLst/>
          </a:prstGeom>
          <a:solidFill>
            <a:srgbClr val="F4F7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904836" y="2111079"/>
            <a:ext cx="8846425" cy="60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419" b="1" kern="1200">
                <a:solidFill>
                  <a:srgbClr val="387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41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04837" y="2814771"/>
            <a:ext cx="8745897" cy="2312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full KNMI 2050 scenario datasets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KRW monitoring data (Waterinfo RWS)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DINOloket grondwaterdata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dataset]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54954" y="1910024"/>
            <a:ext cx="9248535" cy="3417937"/>
          </a:xfrm>
          <a:prstGeom prst="rect">
            <a:avLst/>
          </a:prstGeom>
          <a:solidFill>
            <a:srgbClr val="F4F7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756537" y="2111079"/>
            <a:ext cx="8846425" cy="60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419" b="1" kern="1200">
                <a:solidFill>
                  <a:srgbClr val="387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241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756537" y="2814771"/>
            <a:ext cx="8745897" cy="2312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 / deployment environment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for open source repo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management (GreenPT / OpenAI)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item]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3254" y="5730071"/>
            <a:ext cx="9248535" cy="3417937"/>
          </a:xfrm>
          <a:prstGeom prst="rect">
            <a:avLst/>
          </a:prstGeom>
          <a:solidFill>
            <a:srgbClr val="F4F7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04836" y="5931126"/>
            <a:ext cx="8846425" cy="60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419" b="1" kern="1200">
                <a:solidFill>
                  <a:srgbClr val="387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241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04837" y="6634819"/>
            <a:ext cx="8745897" cy="2312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 (LangGraph / FastAPI)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Geo-data specialist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Policy/domain expert (PZH)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role]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454954" y="5730071"/>
            <a:ext cx="9248535" cy="3417937"/>
          </a:xfrm>
          <a:prstGeom prst="rect">
            <a:avLst/>
          </a:prstGeom>
          <a:solidFill>
            <a:srgbClr val="F4F7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756537" y="5931126"/>
            <a:ext cx="8846425" cy="60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419" b="1" kern="1200">
                <a:solidFill>
                  <a:srgbClr val="387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241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756537" y="6634819"/>
            <a:ext cx="8745897" cy="2312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Woo-compliance review of reasoning logs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/ privacy check on CBS vierkantdata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license decision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item]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9" y="10454866"/>
            <a:ext cx="20105511" cy="854484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3254" y="10495077"/>
            <a:ext cx="18899180" cy="723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199" kern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marked [Add item] are placeholders — update with team after alignment session.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" y="0"/>
            <a:ext cx="20105511" cy="1507913"/>
          </a:xfrm>
          <a:prstGeom prst="rect">
            <a:avLst/>
          </a:prstGeom>
          <a:solidFill>
            <a:srgbClr val="3873EE"/>
          </a:solidFill>
          <a:ln w="12700">
            <a:solidFill>
              <a:srgbClr val="3873EE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3254" y="0"/>
            <a:ext cx="18094960" cy="1507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3078" b="1" kern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ASSUMPTIONS &amp; RISKS</a:t>
            </a:r>
            <a:endParaRPr lang="en-US" sz="307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3254" y="1809496"/>
            <a:ext cx="18899180" cy="804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858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 made during the hackathon that must be validated:</a:t>
            </a:r>
            <a:endParaRPr lang="en-US" sz="28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03254" y="2814772"/>
          <a:ext cx="18899180" cy="6272919"/>
        </p:xfrm>
        <a:graphic>
          <a:graphicData uri="http://schemas.openxmlformats.org/drawingml/2006/table">
            <a:tbl>
              <a:tblPr/>
              <a:tblGrid>
                <a:gridCol w="7640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40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8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54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</a:t>
                      </a:r>
                      <a:endParaRPr lang="en-US" sz="2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7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if wrong</a:t>
                      </a:r>
                      <a:endParaRPr lang="en-US" sz="2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7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2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7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54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 repository reflects current operational reality</a:t>
                      </a:r>
                      <a:endParaRPr lang="en-US" sz="2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Scenarios based on outdated or incomplete inputs</a:t>
                      </a:r>
                      <a:endParaRPr lang="en-US" sz="2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[TBD]</a:t>
                      </a:r>
                      <a:endParaRPr lang="en-US" sz="2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54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reasoning chain is sufficiently explainable for policy use</a:t>
                      </a:r>
                      <a:endParaRPr lang="en-US" sz="2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Woo-compliance not achievable without redesign</a:t>
                      </a:r>
                      <a:endParaRPr lang="en-US" sz="2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[TBD]</a:t>
                      </a:r>
                      <a:endParaRPr lang="en-US" sz="2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54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parameters are meaningful to non-technical users</a:t>
                      </a:r>
                      <a:endParaRPr lang="en-US" sz="2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not adopted by target audience (beleidsmakers)</a:t>
                      </a:r>
                      <a:endParaRPr lang="en-US" sz="2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[TBD]</a:t>
                      </a:r>
                      <a:endParaRPr lang="en-US" sz="2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54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[Add assumption]</a:t>
                      </a:r>
                      <a:endParaRPr lang="en-US" sz="2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[Risk]</a:t>
                      </a:r>
                      <a:endParaRPr lang="en-US" sz="2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[TBD]</a:t>
                      </a:r>
                      <a:endParaRPr lang="en-US" sz="2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54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[Add assumption]</a:t>
                      </a:r>
                      <a:endParaRPr lang="en-US" sz="2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[Risk]</a:t>
                      </a:r>
                      <a:endParaRPr lang="en-US" sz="2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[TBD]</a:t>
                      </a:r>
                      <a:endParaRPr lang="en-US" sz="2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01055" marR="201055" marT="100528" marB="10052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89" y="10454866"/>
            <a:ext cx="20105511" cy="854484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03254" y="10495077"/>
            <a:ext cx="18899180" cy="723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199" b="1" kern="1200">
                <a:solidFill>
                  <a:srgbClr val="387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Document all assumptions in the repository README before MVP scoping begins.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" y="0"/>
            <a:ext cx="20105511" cy="1507913"/>
          </a:xfrm>
          <a:prstGeom prst="rect">
            <a:avLst/>
          </a:prstGeom>
          <a:solidFill>
            <a:srgbClr val="00C9D2"/>
          </a:solidFill>
          <a:ln w="12700">
            <a:solidFill>
              <a:srgbClr val="00C9D2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3254" y="0"/>
            <a:ext cx="18094960" cy="1507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3078" b="1" kern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VALIDATION</a:t>
            </a:r>
            <a:endParaRPr lang="en-US" sz="307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02199" y="1708969"/>
            <a:ext cx="6232708" cy="764009"/>
          </a:xfrm>
          <a:prstGeom prst="rect">
            <a:avLst/>
          </a:prstGeom>
          <a:solidFill>
            <a:srgbClr val="3873EE"/>
          </a:solidFill>
          <a:ln w="12700">
            <a:solidFill>
              <a:srgbClr val="3873EE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3254" y="1708969"/>
            <a:ext cx="5931126" cy="764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419" b="1" kern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241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2199" y="2472978"/>
            <a:ext cx="6232708" cy="7941677"/>
          </a:xfrm>
          <a:prstGeom prst="rect">
            <a:avLst/>
          </a:prstGeom>
          <a:solidFill>
            <a:srgbClr val="F4F7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3465" y="2653927"/>
            <a:ext cx="5830598" cy="7539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data sources against official registries (PDOK, Waterinfo RWS, DINOloket)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KRW monitoring data is current and correctly mapped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edge cases: 6-week IJssel intake stop, simultaneous bevolkingsgroei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validation step]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976701" y="1708969"/>
            <a:ext cx="6232708" cy="764009"/>
          </a:xfrm>
          <a:prstGeom prst="rect">
            <a:avLst/>
          </a:prstGeom>
          <a:solidFill>
            <a:srgbClr val="00C9D2"/>
          </a:solidFill>
          <a:ln w="12700">
            <a:solidFill>
              <a:srgbClr val="00C9D2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77756" y="1708969"/>
            <a:ext cx="5931126" cy="764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419" b="1" kern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241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976701" y="2472978"/>
            <a:ext cx="6232708" cy="7941677"/>
          </a:xfrm>
          <a:prstGeom prst="rect">
            <a:avLst/>
          </a:prstGeom>
          <a:solidFill>
            <a:srgbClr val="F4F7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217967" y="2653927"/>
            <a:ext cx="5830598" cy="7539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scenario outputs against known historical events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assumption combinations (droogte + woningbouw + KRW deadline)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LLM reasoning chain for logical consistency and reproducibility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validation step]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3551203" y="1708969"/>
            <a:ext cx="6232708" cy="764009"/>
          </a:xfrm>
          <a:prstGeom prst="rect">
            <a:avLst/>
          </a:prstGeom>
          <a:solidFill>
            <a:srgbClr val="3873EE"/>
          </a:solidFill>
          <a:ln w="12700">
            <a:solidFill>
              <a:srgbClr val="3873EE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752258" y="1708969"/>
            <a:ext cx="5931126" cy="764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419" b="1" kern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Validation</a:t>
            </a:r>
            <a:endParaRPr lang="en-US" sz="241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3551203" y="2472978"/>
            <a:ext cx="6232708" cy="7941677"/>
          </a:xfrm>
          <a:prstGeom prst="rect">
            <a:avLst/>
          </a:prstGeom>
          <a:solidFill>
            <a:srgbClr val="F4F7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792469" y="2653927"/>
            <a:ext cx="5830598" cy="7539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review with PZH beleidsmakers (can they interpret outputs?)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waterschap domain experts for factual accuracy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check: can a non-technical user adjust parameters?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validation step]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9" y="10454866"/>
            <a:ext cx="20105511" cy="854484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3254" y="10495077"/>
            <a:ext cx="18899180" cy="723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199" b="1" kern="1200">
                <a:solidFill>
                  <a:srgbClr val="00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Plan validation sprint with PZH within 4 weeks of hackathon  ·  Output: Validated PoC + documented limitations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" y="0"/>
            <a:ext cx="20105511" cy="1507913"/>
          </a:xfrm>
          <a:prstGeom prst="rect">
            <a:avLst/>
          </a:prstGeom>
          <a:solidFill>
            <a:srgbClr val="3873EE"/>
          </a:solidFill>
          <a:ln w="12700">
            <a:solidFill>
              <a:srgbClr val="3873EE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3254" y="0"/>
            <a:ext cx="18094960" cy="1507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3078" b="1" kern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MINIMAL VIABLE PRODUCT</a:t>
            </a:r>
            <a:endParaRPr lang="en-US" sz="307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3254" y="1769285"/>
            <a:ext cx="18899180" cy="70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3078" b="1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 Definition</a:t>
            </a:r>
            <a:endParaRPr lang="en-US" sz="307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3254" y="2613717"/>
            <a:ext cx="9047480" cy="7439039"/>
          </a:xfrm>
          <a:prstGeom prst="rect">
            <a:avLst/>
          </a:prstGeom>
          <a:solidFill>
            <a:srgbClr val="F0FFF8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04836" y="2774561"/>
            <a:ext cx="8444315" cy="60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419" b="1" kern="120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241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904836" y="3518464"/>
            <a:ext cx="8444315" cy="633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scenario translation (2–3 pre-defined scenario types)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Hollandse IJssel intake failure scenario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Droogte + bevolkingsgroei combined scenario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parameter adjustment (sliders)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reasoning log (Woo step 1)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repo with README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feature]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454954" y="2613717"/>
            <a:ext cx="9047480" cy="7439039"/>
          </a:xfrm>
          <a:prstGeom prst="rect">
            <a:avLst/>
          </a:prstGeom>
          <a:solidFill>
            <a:srgbClr val="FFF4F4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756537" y="2774561"/>
            <a:ext cx="8444315" cy="60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419" b="1" kern="120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(MVP)</a:t>
            </a:r>
            <a:endParaRPr lang="en-US" sz="241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56537" y="3518464"/>
            <a:ext cx="8444315" cy="633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production deployment / SLA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ingestion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Woo-compliance certification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existing PZH systems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interface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Multi-province generalisation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19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exclusion]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9" y="10454866"/>
            <a:ext cx="20105511" cy="854484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3254" y="10495077"/>
            <a:ext cx="18899180" cy="723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199" b="1" kern="1200">
                <a:solidFill>
                  <a:srgbClr val="387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Definition Owner: [TBD]  ·  Review: PZH challenge owners + GovTechNL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" y="0"/>
            <a:ext cx="20105511" cy="1507913"/>
          </a:xfrm>
          <a:prstGeom prst="rect">
            <a:avLst/>
          </a:prstGeom>
          <a:solidFill>
            <a:srgbClr val="00C9D2"/>
          </a:solidFill>
          <a:ln w="12700">
            <a:solidFill>
              <a:srgbClr val="00C9D2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3254" y="0"/>
            <a:ext cx="18094960" cy="1507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3078" b="1" kern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ROADMAP &amp; TIMELINE</a:t>
            </a:r>
            <a:endParaRPr lang="en-US" sz="307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3254" y="1910024"/>
            <a:ext cx="18899180" cy="12063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623858" y="1789391"/>
            <a:ext cx="482532" cy="482532"/>
          </a:xfrm>
          <a:prstGeom prst="ellipse">
            <a:avLst/>
          </a:prstGeom>
          <a:solidFill>
            <a:srgbClr val="3873EE"/>
          </a:solidFill>
          <a:ln w="12700">
            <a:solidFill>
              <a:srgbClr val="3873EE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254" y="2513189"/>
            <a:ext cx="4523740" cy="8042204"/>
          </a:xfrm>
          <a:prstGeom prst="rect">
            <a:avLst/>
          </a:prstGeom>
          <a:solidFill>
            <a:srgbClr val="F4F7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3254" y="2513189"/>
            <a:ext cx="4523740" cy="120633"/>
          </a:xfrm>
          <a:prstGeom prst="rect">
            <a:avLst/>
          </a:prstGeom>
          <a:solidFill>
            <a:srgbClr val="3873EE"/>
          </a:solidFill>
          <a:ln w="12700">
            <a:solidFill>
              <a:srgbClr val="3873EE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04309" y="2714244"/>
            <a:ext cx="4222157" cy="56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199" b="1" kern="1200">
                <a:solidFill>
                  <a:srgbClr val="387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04309" y="3277198"/>
            <a:ext cx="4222157" cy="70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639" b="1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&amp; Setup</a:t>
            </a:r>
            <a:endParaRPr lang="en-US" sz="263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309" y="4021102"/>
            <a:ext cx="4222157" cy="56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199" kern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04309" y="4664479"/>
            <a:ext cx="412163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04309" y="4865534"/>
            <a:ext cx="4121630" cy="5026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08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alignment session</a:t>
            </a:r>
            <a:endParaRPr lang="en-US" sz="208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08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documentation</a:t>
            </a:r>
            <a:endParaRPr lang="en-US" sz="208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08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handover &amp; governance agreed</a:t>
            </a:r>
            <a:endParaRPr lang="en-US" sz="208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4309" y="9952228"/>
            <a:ext cx="4121630" cy="50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1979" i="1" kern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[Owner: TBD]</a:t>
            </a:r>
            <a:endParaRPr lang="en-US" sz="197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49180" y="1789391"/>
            <a:ext cx="482532" cy="482532"/>
          </a:xfrm>
          <a:prstGeom prst="ellipse">
            <a:avLst/>
          </a:prstGeom>
          <a:solidFill>
            <a:srgbClr val="00C9D2"/>
          </a:solidFill>
          <a:ln w="12700">
            <a:solidFill>
              <a:srgbClr val="00C9D2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28576" y="2513189"/>
            <a:ext cx="4523740" cy="8042204"/>
          </a:xfrm>
          <a:prstGeom prst="rect">
            <a:avLst/>
          </a:prstGeom>
          <a:solidFill>
            <a:srgbClr val="F4F7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28576" y="2513189"/>
            <a:ext cx="4523740" cy="120633"/>
          </a:xfrm>
          <a:prstGeom prst="rect">
            <a:avLst/>
          </a:prstGeom>
          <a:solidFill>
            <a:srgbClr val="00C9D2"/>
          </a:solidFill>
          <a:ln w="12700">
            <a:solidFill>
              <a:srgbClr val="00C9D2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29632" y="2714244"/>
            <a:ext cx="4222157" cy="56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199" b="1" kern="1200">
                <a:solidFill>
                  <a:srgbClr val="00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629632" y="3277198"/>
            <a:ext cx="4222157" cy="70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639" b="1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Sprint</a:t>
            </a:r>
            <a:endParaRPr lang="en-US" sz="263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29632" y="4021102"/>
            <a:ext cx="4222157" cy="56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199" kern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3–6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629631" y="4664479"/>
            <a:ext cx="412163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29631" y="4865534"/>
            <a:ext cx="4121630" cy="5026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08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with domain experts</a:t>
            </a:r>
            <a:endParaRPr lang="en-US" sz="208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08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logic review</a:t>
            </a:r>
            <a:endParaRPr lang="en-US" sz="208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08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with PZH beleidsmakers</a:t>
            </a:r>
            <a:endParaRPr lang="en-US" sz="208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29631" y="9952228"/>
            <a:ext cx="4121630" cy="50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1979" i="1" kern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[Owner: TBD]</a:t>
            </a:r>
            <a:endParaRPr lang="en-US" sz="197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2274503" y="1789391"/>
            <a:ext cx="482532" cy="482532"/>
          </a:xfrm>
          <a:prstGeom prst="ellipse">
            <a:avLst/>
          </a:prstGeom>
          <a:solidFill>
            <a:srgbClr val="3873EE"/>
          </a:solidFill>
          <a:ln w="12700">
            <a:solidFill>
              <a:srgbClr val="3873EE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253899" y="2513189"/>
            <a:ext cx="4523740" cy="8042204"/>
          </a:xfrm>
          <a:prstGeom prst="rect">
            <a:avLst/>
          </a:prstGeom>
          <a:solidFill>
            <a:srgbClr val="F4F7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253899" y="2513189"/>
            <a:ext cx="4523740" cy="120633"/>
          </a:xfrm>
          <a:prstGeom prst="rect">
            <a:avLst/>
          </a:prstGeom>
          <a:solidFill>
            <a:srgbClr val="3873EE"/>
          </a:solidFill>
          <a:ln w="12700">
            <a:solidFill>
              <a:srgbClr val="3873EE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454954" y="2714244"/>
            <a:ext cx="4222157" cy="56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199" b="1" kern="1200">
                <a:solidFill>
                  <a:srgbClr val="387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454954" y="3277198"/>
            <a:ext cx="4222157" cy="70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639" b="1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Build</a:t>
            </a:r>
            <a:endParaRPr lang="en-US" sz="263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454954" y="4021102"/>
            <a:ext cx="4222157" cy="56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199" kern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7–14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0454954" y="4664479"/>
            <a:ext cx="412163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454954" y="4865534"/>
            <a:ext cx="4121630" cy="5026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08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scoped MVP features</a:t>
            </a:r>
            <a:endParaRPr lang="en-US" sz="208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08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Woo-compliance step 1 (reasoning log)</a:t>
            </a:r>
            <a:endParaRPr lang="en-US" sz="208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08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demo &amp; feedback loop</a:t>
            </a:r>
            <a:endParaRPr lang="en-US" sz="208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454954" y="9952228"/>
            <a:ext cx="4121630" cy="50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1979" i="1" kern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[Owner: TBD]</a:t>
            </a:r>
            <a:endParaRPr lang="en-US" sz="197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7099826" y="1789391"/>
            <a:ext cx="482532" cy="482532"/>
          </a:xfrm>
          <a:prstGeom prst="ellipse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5079222" y="2513189"/>
            <a:ext cx="4523740" cy="8042204"/>
          </a:xfrm>
          <a:prstGeom prst="rect">
            <a:avLst/>
          </a:prstGeom>
          <a:solidFill>
            <a:srgbClr val="F4F7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5079222" y="2513189"/>
            <a:ext cx="4523740" cy="120633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5280277" y="2714244"/>
            <a:ext cx="4222157" cy="56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199" b="1" kern="120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5280277" y="3277198"/>
            <a:ext cx="4222157" cy="70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639" b="1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Release</a:t>
            </a:r>
            <a:endParaRPr lang="en-US" sz="263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5280277" y="4021102"/>
            <a:ext cx="4222157" cy="56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2199" kern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15+</a:t>
            </a:r>
            <a:endParaRPr lang="en-US" sz="21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5280277" y="4664479"/>
            <a:ext cx="412163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5280277" y="4865534"/>
            <a:ext cx="4121630" cy="5026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08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release on GovTechNL repo</a:t>
            </a:r>
            <a:endParaRPr lang="en-US" sz="208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08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finalised</a:t>
            </a:r>
            <a:endParaRPr lang="en-US" sz="208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buSzPct val="100000"/>
              <a:buFontTx/>
              <a:buChar char="•"/>
            </a:pPr>
            <a:r>
              <a:rPr lang="en-US" sz="2089" kern="12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to PZH product owner</a:t>
            </a:r>
            <a:endParaRPr lang="en-US" sz="208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5280277" y="9952228"/>
            <a:ext cx="4121630" cy="50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1979" i="1" kern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[Owner: TBD]</a:t>
            </a:r>
            <a:endParaRPr lang="en-US" sz="197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" y="0"/>
            <a:ext cx="361899" cy="1130935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pPr algn="l" defTabSz="2010583" rtl="0"/>
            <a:endParaRPr lang="en-NL" sz="39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05364" y="1407386"/>
            <a:ext cx="18094960" cy="1407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7036" b="1" kern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7036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05364" y="2915299"/>
            <a:ext cx="18094960" cy="70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3078" kern="1200">
                <a:solidFill>
                  <a:srgbClr val="00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answered before development starts:</a:t>
            </a:r>
            <a:endParaRPr lang="en-US" sz="307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05364" y="3820047"/>
            <a:ext cx="18094960" cy="6433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753969" indent="-753969" algn="l" defTabSz="2010583" rtl="0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2858" kern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open source repository and maintenance after the hackathon?</a:t>
            </a:r>
            <a:endParaRPr lang="en-US" sz="28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2858" kern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timeline commitment from Provincie Zuid-Holland for follow-up?</a:t>
            </a:r>
            <a:endParaRPr lang="en-US" sz="28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2858" kern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party funds the MVP build phase?</a:t>
            </a:r>
            <a:endParaRPr lang="en-US" sz="28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2858" kern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this tool relate to the existing Ruimtelijke Assistent — extension or standalone?</a:t>
            </a:r>
            <a:endParaRPr lang="en-US" sz="28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2858" kern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question]</a:t>
            </a:r>
            <a:endParaRPr lang="en-US" sz="28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753969" indent="-753969" algn="l" defTabSz="2010583" rtl="0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2858" kern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question]</a:t>
            </a:r>
            <a:endParaRPr lang="en-US" sz="2858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05364" y="10495077"/>
            <a:ext cx="18094960" cy="603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2010583" rtl="0"/>
            <a:r>
              <a:rPr lang="en-US" sz="1979" kern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OneGov #2 · GovTechNL Hackathon · June 2026</a:t>
            </a:r>
            <a:endParaRPr lang="en-US" sz="197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ntoorthema [1778608864731]">
  <a:themeElements>
    <a:clrScheme name="LinkIT">
      <a:dk1>
        <a:srgbClr val="2A2438"/>
      </a:dk1>
      <a:lt1>
        <a:srgbClr val="FFFFFF"/>
      </a:lt1>
      <a:dk2>
        <a:srgbClr val="3873EE"/>
      </a:dk2>
      <a:lt2>
        <a:srgbClr val="EEECE1"/>
      </a:lt2>
      <a:accent1>
        <a:srgbClr val="3873EE"/>
      </a:accent1>
      <a:accent2>
        <a:srgbClr val="00C9D2"/>
      </a:accent2>
      <a:accent3>
        <a:srgbClr val="00FF9F"/>
      </a:accent3>
      <a:accent4>
        <a:srgbClr val="83CFF5"/>
      </a:accent4>
      <a:accent5>
        <a:srgbClr val="2A2438"/>
      </a:accent5>
      <a:accent6>
        <a:srgbClr val="2A2438"/>
      </a:accent6>
      <a:hlink>
        <a:srgbClr val="00FF9F"/>
      </a:hlink>
      <a:folHlink>
        <a:srgbClr val="3873EE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6 LINKIT - Template" id="{88EF9AE2-9D17-C34F-B95A-E92EDB362047}" vid="{8476DABE-A1E1-F742-B890-765936B9523B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C2905A9-1D31-0C44-854D-7B7B8AB80594}">
  <we:reference id="f5f369e5-aa35-49d7-ad7b-638152ddb008" version="1.0.0.1" store="EXCatalog" storeType="EXCatalog"/>
  <we:alternateReferences>
    <we:reference id="WA200010001" version="1.0.0.1" store="nl-NL" storeType="OMEX"/>
  </we:alternateReferences>
  <we:properties>
    <we:property name="claude.fileId" value="&quot;dc9f4f2e-058f-487e-b105-df5a893f0be4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092898-8a4e-4b0b-bc99-54061004a7da" xsi:nil="true"/>
    <lcf76f155ced4ddcb4097134ff3c332f xmlns="22240c17-dfaf-41d8-99d0-46ddd640350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C212029B69B14F89F8BF819C55D61E" ma:contentTypeVersion="12" ma:contentTypeDescription="Create a new document." ma:contentTypeScope="" ma:versionID="685bdc9c2eb2460077b57c2dca3a39c5">
  <xsd:schema xmlns:xsd="http://www.w3.org/2001/XMLSchema" xmlns:xs="http://www.w3.org/2001/XMLSchema" xmlns:p="http://schemas.microsoft.com/office/2006/metadata/properties" xmlns:ns2="22240c17-dfaf-41d8-99d0-46ddd6403502" xmlns:ns3="29092898-8a4e-4b0b-bc99-54061004a7da" targetNamespace="http://schemas.microsoft.com/office/2006/metadata/properties" ma:root="true" ma:fieldsID="9e4d3c3ec646f6661f2c2386e0a2a612" ns2:_="" ns3:_="">
    <xsd:import namespace="22240c17-dfaf-41d8-99d0-46ddd6403502"/>
    <xsd:import namespace="29092898-8a4e-4b0b-bc99-54061004a7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240c17-dfaf-41d8-99d0-46ddd64035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91bb693-b2fe-44cb-aff5-9e7881e9fd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092898-8a4e-4b0b-bc99-54061004a7d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2618413-487d-4b20-a63e-19269dc2fabb}" ma:internalName="TaxCatchAll" ma:showField="CatchAllData" ma:web="29092898-8a4e-4b0b-bc99-54061004a7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3B9620D-9315-4843-8F27-D0A42CCA0621}">
  <ds:schemaRefs>
    <ds:schemaRef ds:uri="22240c17-dfaf-41d8-99d0-46ddd6403502"/>
    <ds:schemaRef ds:uri="29092898-8a4e-4b0b-bc99-54061004a7d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4FC31E2-2556-48E0-BCAA-313AAFED942C}">
  <ds:schemaRefs>
    <ds:schemaRef ds:uri="22240c17-dfaf-41d8-99d0-46ddd6403502"/>
    <ds:schemaRef ds:uri="29092898-8a4e-4b0b-bc99-54061004a7d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973AA50-7D41-4487-A80E-60CDCEDA2C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2026 LINKIT - Template</Template>
  <TotalTime>0</TotalTime>
  <Words>1498</Words>
  <Application>Microsoft Office PowerPoint</Application>
  <PresentationFormat>Custom</PresentationFormat>
  <Paragraphs>252</Paragraphs>
  <Slides>16</Slides>
  <Notes>10</Notes>
  <HiddenSlides>9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Gentona Book</vt:lpstr>
      <vt:lpstr>Aptos</vt:lpstr>
      <vt:lpstr>Arial</vt:lpstr>
      <vt:lpstr>Calibri</vt:lpstr>
      <vt:lpstr>Kantoorthema [1778608864731]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Maaike Stoops</dc:creator>
  <cp:lastModifiedBy>Jennifer Lyklema</cp:lastModifiedBy>
  <cp:revision>1</cp:revision>
  <dcterms:created xsi:type="dcterms:W3CDTF">2026-06-04T12:02:13Z</dcterms:created>
  <dcterms:modified xsi:type="dcterms:W3CDTF">2026-06-05T07:25:54Z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2026-04-23T00:00:00Z</vt:filetime>
  </property>
  <property fmtid="{D5CDD505-2E9C-101B-9397-08002B2CF9AE}" pid="3" name="Creator">
    <vt:lpwstr>Adobe InDesign 21.0 (Macintosh)</vt:lpwstr>
  </property>
  <property fmtid="{D5CDD505-2E9C-101B-9397-08002B2CF9AE}" pid="4" name="LastSaved">
    <vt:filetime>2026-04-23T00:00:00Z</vt:filetime>
  </property>
  <property fmtid="{D5CDD505-2E9C-101B-9397-08002B2CF9AE}" pid="5" name="Producer">
    <vt:lpwstr>Adobe PDF Library 18.0</vt:lpwstr>
  </property>
  <property fmtid="{D5CDD505-2E9C-101B-9397-08002B2CF9AE}" pid="6" name="ContentTypeId">
    <vt:lpwstr>0x0101008EC212029B69B14F89F8BF819C55D61E</vt:lpwstr>
  </property>
  <property fmtid="{D5CDD505-2E9C-101B-9397-08002B2CF9AE}" pid="7" name="TaxKeyword">
    <vt:lpwstr/>
  </property>
  <property fmtid="{D5CDD505-2E9C-101B-9397-08002B2CF9AE}" pid="8" name="MSIP_Label_a3f59399-f9cb-47c2-a979-55ca569b1eb6_Enabled">
    <vt:lpwstr>true</vt:lpwstr>
  </property>
  <property fmtid="{D5CDD505-2E9C-101B-9397-08002B2CF9AE}" pid="9" name="MSIP_Label_a3f59399-f9cb-47c2-a979-55ca569b1eb6_SetDate">
    <vt:lpwstr>2026-05-12T09:34:07Z</vt:lpwstr>
  </property>
  <property fmtid="{D5CDD505-2E9C-101B-9397-08002B2CF9AE}" pid="10" name="MSIP_Label_a3f59399-f9cb-47c2-a979-55ca569b1eb6_Method">
    <vt:lpwstr>Standard</vt:lpwstr>
  </property>
  <property fmtid="{D5CDD505-2E9C-101B-9397-08002B2CF9AE}" pid="11" name="MSIP_Label_a3f59399-f9cb-47c2-a979-55ca569b1eb6_Name">
    <vt:lpwstr>OPENBAAR</vt:lpwstr>
  </property>
  <property fmtid="{D5CDD505-2E9C-101B-9397-08002B2CF9AE}" pid="12" name="MSIP_Label_a3f59399-f9cb-47c2-a979-55ca569b1eb6_SiteId">
    <vt:lpwstr>2c7a2a51-9c3e-4f1d-819e-8f14239c7cfe</vt:lpwstr>
  </property>
  <property fmtid="{D5CDD505-2E9C-101B-9397-08002B2CF9AE}" pid="13" name="MSIP_Label_a3f59399-f9cb-47c2-a979-55ca569b1eb6_ActionId">
    <vt:lpwstr>321c38be-c6e8-42c3-96da-f960d9434de9</vt:lpwstr>
  </property>
  <property fmtid="{D5CDD505-2E9C-101B-9397-08002B2CF9AE}" pid="14" name="MSIP_Label_a3f59399-f9cb-47c2-a979-55ca569b1eb6_ContentBits">
    <vt:lpwstr>0</vt:lpwstr>
  </property>
  <property fmtid="{D5CDD505-2E9C-101B-9397-08002B2CF9AE}" pid="15" name="MSIP_Label_a3f59399-f9cb-47c2-a979-55ca569b1eb6_Tag">
    <vt:lpwstr>50, 3, 0, 1</vt:lpwstr>
  </property>
  <property fmtid="{D5CDD505-2E9C-101B-9397-08002B2CF9AE}" pid="16" name="MediaServiceImageTags">
    <vt:lpwstr/>
  </property>
  <property fmtid="{D5CDD505-2E9C-101B-9397-08002B2CF9AE}" pid="17" name="eCDocumentType">
    <vt:lpwstr/>
  </property>
  <property fmtid="{D5CDD505-2E9C-101B-9397-08002B2CF9AE}" pid="18" name="eCPredefinedTax5">
    <vt:lpwstr/>
  </property>
  <property fmtid="{D5CDD505-2E9C-101B-9397-08002B2CF9AE}" pid="19" name="eCPredefinedTax1">
    <vt:lpwstr/>
  </property>
  <property fmtid="{D5CDD505-2E9C-101B-9397-08002B2CF9AE}" pid="20" name="eCPredefinedTax2">
    <vt:lpwstr/>
  </property>
  <property fmtid="{D5CDD505-2E9C-101B-9397-08002B2CF9AE}" pid="21" name="eCPredefinedTax3">
    <vt:lpwstr/>
  </property>
  <property fmtid="{D5CDD505-2E9C-101B-9397-08002B2CF9AE}" pid="22" name="eCPredefinedTax4">
    <vt:lpwstr/>
  </property>
</Properties>
</file>